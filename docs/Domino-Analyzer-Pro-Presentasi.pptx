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pembuka. Sebutkan bahwa ini alat bantu keputusan, bukan pengganti keputusan pemain.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Tiga masalah ini menjadi dasar seluruh desain aplikasi: catat bukti, hitung peluang, tampilkan ketidakpastian.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Tegaskan: aplikasi tidak tahu kartu lawan; ia menghitung peluang dari informasi yang Anda berikan.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Tiga kolom: mesin, pelacakan, antarmuka. Jangan membacakan semuanya; pilih dua-tiga yang paling relevan dengan audiens.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Pemisahan ini membuat mesin bisa diuji langsung dari terminal tanpa server, peramban, atau jaringan.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Semua perhitungan berat hanya di engine; UI murni menggambar. Satu sumber kebenaran untuk urutan kartu.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Sebutkan bahwa start.py menolak menjalankan server bila self-test mesin gagal: lebih baik menolak daripada memberi angka yang salah.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Setel aturan meja SEBELUM mencatat kartu: mengubahnya di tengah permainan membuat hasil sebelum dan sesudah tidak bisa dibandingkan.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Inti keputusan desain: pemain tidak boleh kehilangan gambaran besar hanya karena rantai sudah panjang.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Masukan cepat dibuat karena saat bermain, tangan fisik masih memegang kartu — mengetuk kisi 28 kartu terlalu lambat.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Tekankan: PASS adalah bukti keras. Satu PASS palsu membuat analisis berikutnya yakin pada hal yang salah. Catat hanya yang benar-benar terlihat.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Peta angka adalah alat penalaran tercepat yang bisa dipakai tanpa membaca satu pun statistik.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Undo dirancang konsisten supaya data pelacakan tidak pernah setengah jalan — sumber kesalahan yang halus.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Kunci: setiap angka ada 7 kartu — dasar peta angka dan semua perhitungan eliminasi.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Kartu sisa mati adalah informasi strategis yang jarang disadari pemain manual.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Kesalahan paling umum: aplikasi disetel rata-rata padahal meja memakai mata terkecil. Seluruh angka lalu menyimpang.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Determinisme: seed sama -&gt; hasil identik. Ini yang membuat angka bisa diverifikasi ulang.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Rotasi profil adalah jawaban atas risiko overfitting: rekomendasi harus kuat melawan berbagai gaya, bukan hanya satu.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Inilah bagian yang membuat catatan PASS dan atribusi benar-benar mengubah hasil, bukan sekadar hiasan.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Jelaskan contoh nyata di slide berikutnya: peluang lebih tinggi bisa kalah peringkat karena menyisakan ujung berbahaya.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Angka ini keluaran mesin sungguhan (seed 20240922, 500 simulasi), bukan ilustrasi. Inilah inti argumen mengapa rankScore 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Ceritakan: cacat ditemukan saat menyusun dokumentasi karena contoh keluaran diperiksa satu per satu. Uji lama terlalu longgar untuk menangkapnya.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Ajarkan satu kebiasaan: baca peringkat #1, selangnya, dan alasannya — lalu baru putuskan.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Semakin disiplin mencatat, semakin tajam profil ini. Data lebih berharga daripada menambah simulasi.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Pesan utama: aplikasi ini dirancang supaya kesalahan statistik tidak bisa lolos diam-diam.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Semua ini hasil audit: setiap celah yang ditemukan menambah satu uji yang menjaganya.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Empat prinsip ini bisa dibawa ke meja tanpa membuka aplikasi.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Tutup bagian strategi dengan rutinitas ini; ajak audiens mengingat urutan empat langkahnya.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Bagian ini penting untuk kredibilitas: sebutkan batasan sebelum ditanya.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Sebutkan bahwa dokumentasi dan presentasi bisa dibangun ulang dari sumber Markdown — jadi tidak ada dua versi yang berbeda isi.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penutup. Ucapkan terima kasih dan buka sesi tanya jawab.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0312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5400" b="1" i="0">
                <a:solidFill>
                  <a:srgbClr val="E6EDF3"/>
                </a:solidFill>
              </a:rPr>
              <a:t>Domino Analyzer Pro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2918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0" i="0">
                <a:solidFill>
                  <a:srgbClr val="8B949E"/>
                </a:solidFill>
              </a:rPr>
              <a:t>Analisis langkah domino dengan simulasi Monte-Carlo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4069080"/>
            <a:ext cx="2011680" cy="4572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3891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200" b="1" i="0">
                <a:solidFill>
                  <a:srgbClr val="E6EDF3"/>
                </a:solidFill>
              </a:rPr>
              <a:t>by Dody Maulana Ramadhan</a:t>
            </a:r>
          </a:p>
          <a:p>
            <a:pPr>
              <a:spcAft>
                <a:spcPts val="600"/>
              </a:spcAft>
            </a:pPr>
            <a:r>
              <a:rPr sz="1300" b="0" i="0">
                <a:solidFill>
                  <a:srgbClr val="8B949E"/>
                </a:solidFill>
              </a:rPr>
              <a:t>Versi aplikasi v3.3 · engine 3.0.0  ·  presentasi dibangun 2026-10-15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100" b="1" i="0">
                <a:solidFill>
                  <a:srgbClr val="58A6FF"/>
                </a:solidFill>
              </a:rPr>
              <a:t>LATAR BELAKANG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11247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3000" b="1" i="0">
                <a:solidFill>
                  <a:srgbClr val="E6EDF3"/>
                </a:solidFill>
              </a:rPr>
              <a:t>Masalah yang dipecahkan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481328"/>
            <a:ext cx="1463040" cy="41148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3550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000" b="0" i="0">
                <a:solidFill>
                  <a:srgbClr val="8B949E"/>
                </a:solidFill>
              </a:rPr>
              <a:t>Domino Analyzer Pro · by Dody Maulana Ramadhan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3550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8B949E"/>
                </a:solidFill>
              </a:rPr>
              <a:t>2 / 31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74519"/>
            <a:ext cx="108813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650" b="0" i="0">
                <a:solidFill>
                  <a:srgbClr val="E6EDF3"/>
                </a:solidFill>
              </a:rPr>
              <a:t>· Informasi tersembunyi terlalu banyak: 28 kartu, kita hanya tahu 7 di antaranya</a:t>
            </a:r>
          </a:p>
          <a:p>
            <a:pPr>
              <a:spcAft>
                <a:spcPts val="1100"/>
              </a:spcAft>
            </a:pPr>
            <a:r>
              <a:rPr sz="1650" b="0" i="0">
                <a:solidFill>
                  <a:srgbClr val="E6EDF3"/>
                </a:solidFill>
              </a:rPr>
              <a:t>· Setiap PASS lawan membocorkan fakta penting — dan hampir selalu terbuang</a:t>
            </a:r>
          </a:p>
          <a:p>
            <a:pPr>
              <a:spcAft>
                <a:spcPts val="1100"/>
              </a:spcAft>
            </a:pPr>
            <a:r>
              <a:rPr sz="1650" b="0" i="0">
                <a:solidFill>
                  <a:srgbClr val="E6EDF3"/>
                </a:solidFill>
              </a:rPr>
              <a:t>· Beda tipis antar langkah tidak bisa dibedakan dari keberuntungan</a:t>
            </a:r>
          </a:p>
          <a:p>
            <a:pPr>
              <a:spcAft>
                <a:spcPts val="1100"/>
              </a:spcAft>
            </a:pPr>
            <a:r>
              <a:rPr sz="1650" b="0" i="0">
                <a:solidFill>
                  <a:srgbClr val="E6EDF3"/>
                </a:solidFill>
              </a:rPr>
              <a:t>· Menghitung peluang secara manual saat bermain tidak mungkin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100" b="1" i="0">
                <a:solidFill>
                  <a:srgbClr val="58A6FF"/>
                </a:solidFill>
              </a:rPr>
              <a:t>RINGKAS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11247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3000" b="1" i="0">
                <a:solidFill>
                  <a:srgbClr val="E6EDF3"/>
                </a:solidFill>
              </a:rPr>
              <a:t>Apa itu Domino Analyzer Pro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481328"/>
            <a:ext cx="1463040" cy="41148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3550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000" b="0" i="0">
                <a:solidFill>
                  <a:srgbClr val="8B949E"/>
                </a:solidFill>
              </a:rPr>
              <a:t>Domino Analyzer Pro · by Dody Maulana Ramadhan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3550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8B949E"/>
                </a:solidFill>
              </a:rPr>
              <a:t>3 / 31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74519"/>
            <a:ext cx="108813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650" b="0" i="0">
                <a:solidFill>
                  <a:srgbClr val="E6EDF3"/>
                </a:solidFill>
              </a:rPr>
              <a:t>· Aplikasi analisis untuk domino 28 kartu (angka 0-6), 2 sampai 4 pemain</a:t>
            </a:r>
          </a:p>
          <a:p>
            <a:pPr>
              <a:spcAft>
                <a:spcPts val="1100"/>
              </a:spcAft>
            </a:pPr>
            <a:r>
              <a:rPr sz="1650" b="0" i="0">
                <a:solidFill>
                  <a:srgbClr val="E6EDF3"/>
                </a:solidFill>
              </a:rPr>
              <a:t>· Anda masukkan kartu tangan, kartu di meja, PASS lawan, dan atribusi kartu</a:t>
            </a:r>
          </a:p>
          <a:p>
            <a:pPr>
              <a:spcAft>
                <a:spcPts val="1100"/>
              </a:spcAft>
            </a:pPr>
            <a:r>
              <a:rPr sz="1650" b="0" i="0">
                <a:solidFill>
                  <a:srgbClr val="E6EDF3"/>
                </a:solidFill>
              </a:rPr>
              <a:t>· Mesin memainkan ribuan gim domino di dalam komputer untuk tiap langkah</a:t>
            </a:r>
          </a:p>
          <a:p>
            <a:pPr>
              <a:spcAft>
                <a:spcPts val="1100"/>
              </a:spcAft>
            </a:pPr>
            <a:r>
              <a:rPr sz="1650" b="0" i="0">
                <a:solidFill>
                  <a:srgbClr val="E6EDF3"/>
                </a:solidFill>
              </a:rPr>
              <a:t>· Hasilnya: urutan langkah terbaik, peluang menang, dan alasannya</a:t>
            </a:r>
          </a:p>
          <a:p>
            <a:pPr>
              <a:spcAft>
                <a:spcPts val="1100"/>
              </a:spcAft>
            </a:pPr>
            <a:r>
              <a:rPr sz="1650" b="0" i="0">
                <a:solidFill>
                  <a:srgbClr val="E6EDF3"/>
                </a:solidFill>
              </a:rPr>
              <a:t>· Semuanya berjalan lokal di komputer Anda — tanpa akun, tanpa data keluar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100" b="1" i="0">
                <a:solidFill>
                  <a:srgbClr val="58A6FF"/>
                </a:solidFill>
              </a:rPr>
              <a:t>KEMAMPUAN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11247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3000" b="1" i="0">
                <a:solidFill>
                  <a:srgbClr val="E6EDF3"/>
                </a:solidFill>
              </a:rPr>
              <a:t>Fitur utama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481328"/>
            <a:ext cx="1463040" cy="41148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3550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000" b="0" i="0">
                <a:solidFill>
                  <a:srgbClr val="8B949E"/>
                </a:solidFill>
              </a:rPr>
              <a:t>Domino Analyzer Pro · by Dody Maulana Ramadhan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3550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8B949E"/>
                </a:solidFill>
              </a:rPr>
              <a:t>4 / 31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03707" y="1920240"/>
            <a:ext cx="3611880" cy="3931920"/>
          </a:xfrm>
          <a:prstGeom prst="round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/>
          <a:lstStyle/>
          <a:p>
            <a:pPr algn="ctr">
              <a:spcAft>
                <a:spcPts val="800"/>
              </a:spcAft>
            </a:pPr>
            <a:r>
              <a:rPr sz="1500" b="1" i="0">
                <a:solidFill>
                  <a:srgbClr val="58A6FF"/>
                </a:solidFill>
              </a:rPr>
              <a:t>Mesin analisis</a:t>
            </a:r>
          </a:p>
          <a:p>
            <a:pPr>
              <a:spcAft>
                <a:spcPts val="400"/>
              </a:spcAft>
            </a:pPr>
            <a:r>
              <a:rPr sz="1150" b="0" i="0">
                <a:solidFill>
                  <a:srgbClr val="E6EDF3"/>
                </a:solidFill>
              </a:rPr>
              <a:t>· Monte-Carlo per kandidat langkah</a:t>
            </a:r>
          </a:p>
          <a:p>
            <a:pPr>
              <a:spcAft>
                <a:spcPts val="400"/>
              </a:spcAft>
            </a:pPr>
            <a:r>
              <a:rPr sz="1150" b="0" i="0">
                <a:solidFill>
                  <a:srgbClr val="E6EDF3"/>
                </a:solidFill>
              </a:rPr>
              <a:t>· 3 profil lawan AI yang dirotasi</a:t>
            </a:r>
          </a:p>
          <a:p>
            <a:pPr>
              <a:spcAft>
                <a:spcPts val="400"/>
              </a:spcAft>
            </a:pPr>
            <a:r>
              <a:rPr sz="1150" b="0" i="0">
                <a:solidFill>
                  <a:srgbClr val="E6EDF3"/>
                </a:solidFill>
              </a:rPr>
              <a:t>· Mode teliti (lawan tanpa derau)</a:t>
            </a:r>
          </a:p>
          <a:p>
            <a:pPr>
              <a:spcAft>
                <a:spcPts val="400"/>
              </a:spcAft>
            </a:pPr>
            <a:r>
              <a:rPr sz="1150" b="0" i="0">
                <a:solidFill>
                  <a:srgbClr val="E6EDF3"/>
                </a:solidFill>
              </a:rPr>
              <a:t>· Simulasi cangkul + kartu sisa mati</a:t>
            </a:r>
          </a:p>
          <a:p>
            <a:pPr>
              <a:spcAft>
                <a:spcPts val="400"/>
              </a:spcAft>
            </a:pPr>
            <a:r>
              <a:rPr sz="1150" b="0" i="0">
                <a:solidFill>
                  <a:srgbClr val="E6EDF3"/>
                </a:solidFill>
              </a:rPr>
              <a:t>· Interval keyakinan Wilson 95%</a:t>
            </a:r>
          </a:p>
          <a:p>
            <a:pPr>
              <a:spcAft>
                <a:spcPts val="400"/>
              </a:spcAft>
            </a:pPr>
            <a:r>
              <a:rPr sz="1150" b="0" i="0">
                <a:solidFill>
                  <a:srgbClr val="E6EDF3"/>
                </a:solidFill>
              </a:rPr>
              <a:t>· Deterministik: seed tetap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89907" y="1920240"/>
            <a:ext cx="3611880" cy="3931920"/>
          </a:xfrm>
          <a:prstGeom prst="round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/>
          <a:lstStyle/>
          <a:p>
            <a:pPr algn="ctr">
              <a:spcAft>
                <a:spcPts val="800"/>
              </a:spcAft>
            </a:pPr>
            <a:r>
              <a:rPr sz="1500" b="1" i="0">
                <a:solidFill>
                  <a:srgbClr val="58A6FF"/>
                </a:solidFill>
              </a:rPr>
              <a:t>Pelacakan lawan</a:t>
            </a:r>
          </a:p>
          <a:p>
            <a:pPr>
              <a:spcAft>
                <a:spcPts val="400"/>
              </a:spcAft>
            </a:pPr>
            <a:r>
              <a:rPr sz="1150" b="0" i="0">
                <a:solidFill>
                  <a:srgbClr val="E6EDF3"/>
                </a:solidFill>
              </a:rPr>
              <a:t>· PASS lawan -&gt; eliminasi angka</a:t>
            </a:r>
          </a:p>
          <a:p>
            <a:pPr>
              <a:spcAft>
                <a:spcPts val="400"/>
              </a:spcAft>
            </a:pPr>
            <a:r>
              <a:rPr sz="1150" b="0" i="0">
                <a:solidFill>
                  <a:srgbClr val="E6EDF3"/>
                </a:solidFill>
              </a:rPr>
              <a:t>· Atribusi kartu ke lawan tertentu</a:t>
            </a:r>
          </a:p>
          <a:p>
            <a:pPr>
              <a:spcAft>
                <a:spcPts val="400"/>
              </a:spcAft>
            </a:pPr>
            <a:r>
              <a:rPr sz="1150" b="0" i="0">
                <a:solidFill>
                  <a:srgbClr val="E6EDF3"/>
                </a:solidFill>
              </a:rPr>
              <a:t>· Kisi kemungkinan kartu per lawan</a:t>
            </a:r>
          </a:p>
          <a:p>
            <a:pPr>
              <a:spcAft>
                <a:spcPts val="400"/>
              </a:spcAft>
            </a:pPr>
            <a:r>
              <a:rPr sz="1150" b="0" i="0">
                <a:solidFill>
                  <a:srgbClr val="E6EDF3"/>
                </a:solidFill>
              </a:rPr>
              <a:t>· Profil kekayaan angka per lawan</a:t>
            </a:r>
          </a:p>
          <a:p>
            <a:pPr>
              <a:spcAft>
                <a:spcPts val="400"/>
              </a:spcAft>
            </a:pPr>
            <a:r>
              <a:rPr sz="1150" b="0" i="0">
                <a:solidFill>
                  <a:srgbClr val="E6EDF3"/>
                </a:solidFill>
              </a:rPr>
              <a:t>· Urutan giliran diperhitungkan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76107" y="1920240"/>
            <a:ext cx="3611880" cy="3931920"/>
          </a:xfrm>
          <a:prstGeom prst="round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/>
          <a:lstStyle/>
          <a:p>
            <a:pPr algn="ctr">
              <a:spcAft>
                <a:spcPts val="800"/>
              </a:spcAft>
            </a:pPr>
            <a:r>
              <a:rPr sz="1500" b="1" i="0">
                <a:solidFill>
                  <a:srgbClr val="58A6FF"/>
                </a:solidFill>
              </a:rPr>
              <a:t>Antarmuka</a:t>
            </a:r>
          </a:p>
          <a:p>
            <a:pPr>
              <a:spcAft>
                <a:spcPts val="400"/>
              </a:spcAft>
            </a:pPr>
            <a:r>
              <a:rPr sz="1150" b="0" i="0">
                <a:solidFill>
                  <a:srgbClr val="E6EDF3"/>
                </a:solidFill>
              </a:rPr>
              <a:t>· Papan bergaya ular, mengecil otomatis</a:t>
            </a:r>
          </a:p>
          <a:p>
            <a:pPr>
              <a:spcAft>
                <a:spcPts val="400"/>
              </a:spcAft>
            </a:pPr>
            <a:r>
              <a:rPr sz="1150" b="0" i="0">
                <a:solidFill>
                  <a:srgbClr val="E6EDF3"/>
                </a:solidFill>
              </a:rPr>
              <a:t>· Siluet rekomendasi di papan</a:t>
            </a:r>
          </a:p>
          <a:p>
            <a:pPr>
              <a:spcAft>
                <a:spcPts val="400"/>
              </a:spcAft>
            </a:pPr>
            <a:r>
              <a:rPr sz="1150" b="0" i="0">
                <a:solidFill>
                  <a:srgbClr val="E6EDF3"/>
                </a:solidFill>
              </a:rPr>
              <a:t>· Mode LIVE: analisis ulang otomatis</a:t>
            </a:r>
          </a:p>
          <a:p>
            <a:pPr>
              <a:spcAft>
                <a:spcPts val="400"/>
              </a:spcAft>
            </a:pPr>
            <a:r>
              <a:rPr sz="1150" b="0" i="0">
                <a:solidFill>
                  <a:srgbClr val="E6EDF3"/>
                </a:solidFill>
              </a:rPr>
              <a:t>· Undo timeline + simpan otomatis</a:t>
            </a:r>
          </a:p>
          <a:p>
            <a:pPr>
              <a:spcAft>
                <a:spcPts val="400"/>
              </a:spcAft>
            </a:pPr>
            <a:r>
              <a:rPr sz="1150" b="0" i="0">
                <a:solidFill>
                  <a:srgbClr val="E6EDF3"/>
                </a:solidFill>
              </a:rPr>
              <a:t>· Export/Import sesi (JSON)</a:t>
            </a:r>
          </a:p>
          <a:p>
            <a:pPr>
              <a:spcAft>
                <a:spcPts val="400"/>
              </a:spcAft>
            </a:pPr>
            <a:r>
              <a:rPr sz="1150" b="0" i="0">
                <a:solidFill>
                  <a:srgbClr val="E6EDF3"/>
                </a:solidFill>
              </a:rPr>
              <a:t>· PWA: bisa dipasang, ada offline shell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100" b="1" i="0">
                <a:solidFill>
                  <a:srgbClr val="58A6FF"/>
                </a:solidFill>
              </a:rPr>
              <a:t>CARA KERJA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11247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3000" b="1" i="0">
                <a:solidFill>
                  <a:srgbClr val="E6EDF3"/>
                </a:solidFill>
              </a:rPr>
              <a:t>Arsitektur: tiga lapisan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481328"/>
            <a:ext cx="1463040" cy="41148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3550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000" b="0" i="0">
                <a:solidFill>
                  <a:srgbClr val="8B949E"/>
                </a:solidFill>
              </a:rPr>
              <a:t>Domino Analyzer Pro · by Dody Maulana Ramadhan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3550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8B949E"/>
                </a:solidFill>
              </a:rPr>
              <a:t>5 / 31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011680"/>
            <a:ext cx="3520440" cy="228600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</a:pPr>
            <a:r>
              <a:rPr sz="1700" b="1" i="0">
                <a:solidFill>
                  <a:srgbClr val="58A6FF"/>
                </a:solidFill>
              </a:rPr>
              <a:t>UI Web (web/)</a:t>
            </a:r>
          </a:p>
          <a:p>
            <a:pPr>
              <a:spcAft>
                <a:spcPts val="300"/>
              </a:spcAft>
            </a:pPr>
            <a:r>
              <a:rPr sz="1200" b="0" i="0">
                <a:solidFill>
                  <a:srgbClr val="E6EDF3"/>
                </a:solidFill>
              </a:rPr>
              <a:t>index.html, app.js</a:t>
            </a:r>
          </a:p>
          <a:p>
            <a:pPr>
              <a:spcAft>
                <a:spcPts val="300"/>
              </a:spcAft>
            </a:pPr>
            <a:r>
              <a:rPr sz="1200" b="0" i="0">
                <a:solidFill>
                  <a:srgbClr val="E6EDF3"/>
                </a:solidFill>
              </a:rPr>
              <a:t>styles.css, sw.js</a:t>
            </a:r>
          </a:p>
          <a:p>
            <a:pPr>
              <a:spcAft>
                <a:spcPts val="300"/>
              </a:spcAft>
            </a:pPr>
            <a:r>
              <a:rPr sz="1200" b="0" i="0">
                <a:solidFill>
                  <a:srgbClr val="E6EDF3"/>
                </a:solidFill>
              </a:rPr>
              <a:t>PWA + offline shell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133087" y="3017520"/>
            <a:ext cx="292608" cy="274320"/>
          </a:xfrm>
          <a:prstGeom prst="rightArrow">
            <a:avLst/>
          </a:prstGeom>
          <a:solidFill>
            <a:srgbClr val="8B94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471416" y="2011680"/>
            <a:ext cx="3520440" cy="228600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</a:pPr>
            <a:r>
              <a:rPr sz="1700" b="1" i="0">
                <a:solidFill>
                  <a:srgbClr val="3FB950"/>
                </a:solidFill>
              </a:rPr>
              <a:t>Server Python</a:t>
            </a:r>
          </a:p>
          <a:p>
            <a:pPr>
              <a:spcAft>
                <a:spcPts val="300"/>
              </a:spcAft>
            </a:pPr>
            <a:r>
              <a:rPr sz="1200" b="0" i="0">
                <a:solidFill>
                  <a:srgbClr val="E6EDF3"/>
                </a:solidFill>
              </a:rPr>
              <a:t>server/domino_server.py</a:t>
            </a:r>
          </a:p>
          <a:p>
            <a:pPr>
              <a:spcAft>
                <a:spcPts val="300"/>
              </a:spcAft>
            </a:pPr>
            <a:r>
              <a:rPr sz="1200" b="0" i="0">
                <a:solidFill>
                  <a:srgbClr val="E6EDF3"/>
                </a:solidFill>
              </a:rPr>
              <a:t>port 2024</a:t>
            </a:r>
          </a:p>
          <a:p>
            <a:pPr>
              <a:spcAft>
                <a:spcPts val="300"/>
              </a:spcAft>
            </a:pPr>
            <a:r>
              <a:rPr sz="1200" b="0" i="0">
                <a:solidFill>
                  <a:srgbClr val="E6EDF3"/>
                </a:solidFill>
              </a:rPr>
              <a:t>normalisasi + validasi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037576" y="3017520"/>
            <a:ext cx="292608" cy="274320"/>
          </a:xfrm>
          <a:prstGeom prst="rightArrow">
            <a:avLst/>
          </a:prstGeom>
          <a:solidFill>
            <a:srgbClr val="8B94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375904" y="2011680"/>
            <a:ext cx="3520440" cy="228600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D29A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</a:pPr>
            <a:r>
              <a:rPr sz="1700" b="1" i="0">
                <a:solidFill>
                  <a:srgbClr val="D29A22"/>
                </a:solidFill>
              </a:rPr>
              <a:t>Engine C++20</a:t>
            </a:r>
          </a:p>
          <a:p>
            <a:pPr>
              <a:spcAft>
                <a:spcPts val="300"/>
              </a:spcAft>
            </a:pPr>
            <a:r>
              <a:rPr sz="1200" b="0" i="0">
                <a:solidFill>
                  <a:srgbClr val="E6EDF3"/>
                </a:solidFill>
              </a:rPr>
              <a:t>engine/domino_engine.cpp</a:t>
            </a:r>
          </a:p>
          <a:p>
            <a:pPr>
              <a:spcAft>
                <a:spcPts val="300"/>
              </a:spcAft>
            </a:pPr>
            <a:r>
              <a:rPr sz="1200" b="0" i="0">
                <a:solidFill>
                  <a:srgbClr val="E6EDF3"/>
                </a:solidFill>
              </a:rPr>
              <a:t>bin/domino_engine</a:t>
            </a:r>
          </a:p>
          <a:p>
            <a:pPr>
              <a:spcAft>
                <a:spcPts val="300"/>
              </a:spcAft>
            </a:pPr>
            <a:r>
              <a:rPr sz="1200" b="0" i="0">
                <a:solidFill>
                  <a:srgbClr val="E6EDF3"/>
                </a:solidFill>
              </a:rPr>
              <a:t>Monte-Carlo + ranking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100" b="1" i="0">
                <a:solidFill>
                  <a:srgbClr val="58A6FF"/>
                </a:solidFill>
              </a:rPr>
              <a:t>DATA MENGALIR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11247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3000" b="1" i="0">
                <a:solidFill>
                  <a:srgbClr val="E6EDF3"/>
                </a:solidFill>
              </a:rPr>
              <a:t>Alur satu permintaan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481328"/>
            <a:ext cx="1463040" cy="41148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3550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000" b="0" i="0">
                <a:solidFill>
                  <a:srgbClr val="8B949E"/>
                </a:solidFill>
              </a:rPr>
              <a:t>Domino Analyzer Pro · by Dody Maulana Ramadhan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3550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8B949E"/>
                </a:solidFill>
              </a:rPr>
              <a:t>6 / 31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108813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600" b="0" i="0">
                <a:solidFill>
                  <a:srgbClr val="E6EDF3"/>
                </a:solidFill>
              </a:rPr>
              <a:t>1. Aksi pengguna di UI (ketuk kartu / catat PASS)</a:t>
            </a:r>
          </a:p>
          <a:p>
            <a:pPr>
              <a:spcAft>
                <a:spcPts val="700"/>
              </a:spcAft>
            </a:pPr>
            <a:r>
              <a:rPr sz="1600" b="0" i="0">
                <a:solidFill>
                  <a:srgbClr val="E6EDF3"/>
                </a:solidFill>
              </a:rPr>
              <a:t>2. app.js menyusun JSON: tangan, papan, atribusi, aturan meja, seed</a:t>
            </a:r>
          </a:p>
          <a:p>
            <a:pPr>
              <a:spcAft>
                <a:spcPts val="700"/>
              </a:spcAft>
            </a:pPr>
            <a:r>
              <a:rPr sz="1600" b="0" i="0">
                <a:solidFill>
                  <a:srgbClr val="E6EDF3"/>
                </a:solidFill>
              </a:rPr>
              <a:t>3. POST /api/analyze: server menormalkan kunci kartu + memvalidasi</a:t>
            </a:r>
          </a:p>
          <a:p>
            <a:pPr>
              <a:spcAft>
                <a:spcPts val="700"/>
              </a:spcAft>
            </a:pPr>
            <a:r>
              <a:rPr sz="1600" b="0" i="0">
                <a:solidFill>
                  <a:srgbClr val="E6EDF3"/>
                </a:solidFill>
              </a:rPr>
              <a:t>4. Engine dijalankan: payload ke stdin, ribuan gim dimainkan</a:t>
            </a:r>
          </a:p>
          <a:p>
            <a:pPr>
              <a:spcAft>
                <a:spcPts val="700"/>
              </a:spcAft>
            </a:pPr>
            <a:r>
              <a:rPr sz="1600" b="0" i="0">
                <a:solidFill>
                  <a:srgbClr val="E6EDF3"/>
                </a:solidFill>
              </a:rPr>
              <a:t>5. Balasan JSON: moves[], opponents[], deadTiles[]</a:t>
            </a:r>
          </a:p>
          <a:p>
            <a:pPr>
              <a:spcAft>
                <a:spcPts val="700"/>
              </a:spcAft>
            </a:pPr>
            <a:r>
              <a:rPr sz="1600" b="0" i="0">
                <a:solidFill>
                  <a:srgbClr val="E6EDF3"/>
                </a:solidFill>
              </a:rPr>
              <a:t>6. UI menggambar ulang: glow rekomendasi, siluet, panel hasil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474720"/>
            <a:ext cx="108813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100" b="1" i="0">
                <a:solidFill>
                  <a:srgbClr val="58A6FF"/>
                </a:solidFill>
              </a:rPr>
              <a:t>INSTALASI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11247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3000" b="1" i="0">
                <a:solidFill>
                  <a:srgbClr val="E6EDF3"/>
                </a:solidFill>
              </a:rPr>
              <a:t>Menjalankan aplikasi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481328"/>
            <a:ext cx="1463040" cy="41148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3550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000" b="0" i="0">
                <a:solidFill>
                  <a:srgbClr val="8B949E"/>
                </a:solidFill>
              </a:rPr>
              <a:t>Domino Analyzer Pro · by Dody Maulana Ramadhan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3550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8B949E"/>
                </a:solidFill>
              </a:rPr>
              <a:t>7 / 31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74519"/>
            <a:ext cx="108813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 i="0">
                <a:solidFill>
                  <a:srgbClr val="B8D4FF"/>
                </a:solidFill>
                <a:latin typeface="Consolas"/>
              </a:rPr>
              <a:t>python start.py            # build engine + self-test + serve di :2024</a:t>
            </a:r>
          </a:p>
          <a:p>
            <a:pPr>
              <a:spcAft>
                <a:spcPts val="600"/>
              </a:spcAft>
            </a:pPr>
            <a:r>
              <a:rPr sz="1300" b="0" i="0">
                <a:solidFill>
                  <a:srgbClr val="B8D4FF"/>
                </a:solidFill>
                <a:latin typeface="Consolas"/>
              </a:rPr>
              <a:t>python start.py --check    # build + self-test saja</a:t>
            </a:r>
          </a:p>
          <a:p>
            <a:pPr>
              <a:spcAft>
                <a:spcPts val="600"/>
              </a:spcAft>
            </a:pPr>
            <a:r>
              <a:rPr sz="1300" b="0" i="0">
                <a:solidFill>
                  <a:srgbClr val="B8D4FF"/>
                </a:solidFill>
                <a:latin typeface="Consolas"/>
              </a:rPr>
              <a:t>python tools/build_engine.py --force    # bangun ulang mesin C++</a:t>
            </a:r>
          </a:p>
          <a:p>
            <a:pPr>
              <a:spcAft>
                <a:spcPts val="600"/>
              </a:spcAft>
            </a:pPr>
            <a:r>
              <a:rPr sz="1300" b="0" i="0">
                <a:solidFill>
                  <a:srgbClr val="B8D4FF"/>
                </a:solidFill>
                <a:latin typeface="Consolas"/>
              </a:rPr>
              <a:t>python tools/selftest.py                # 11 pemeriksaan mandiri mesin</a:t>
            </a:r>
          </a:p>
          <a:p>
            <a:pPr>
              <a:spcAft>
                <a:spcPts val="600"/>
              </a:spcAft>
            </a:pPr>
            <a:r>
              <a:rPr sz="1300" b="0" i="0">
                <a:solidFill>
                  <a:srgbClr val="B8D4FF"/>
                </a:solidFill>
                <a:latin typeface="Consolas"/>
              </a:rPr>
              <a:t>python tools/test_server.py             # 29 uji server</a:t>
            </a:r>
          </a:p>
          <a:p>
            <a:pPr>
              <a:spcAft>
                <a:spcPts val="600"/>
              </a:spcAft>
            </a:pPr>
            <a:r>
              <a:rPr sz="1300" b="0" i="0">
                <a:solidFill>
                  <a:srgbClr val="B8D4FF"/>
                </a:solidFill>
                <a:latin typeface="Consolas"/>
              </a:rPr>
              <a:t>python tools/test_ui_heavy.py           # 6 uji UI tanpa kepala (1,7 juta)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343400"/>
            <a:ext cx="108813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50" b="0" i="0">
                <a:solidFill>
                  <a:srgbClr val="8B949E"/>
                </a:solidFill>
              </a:rPr>
              <a:t>· Prasyarat: Python 3.10+ dan satu compiler C++20 (MSVC / g++ / clang++)</a:t>
            </a:r>
          </a:p>
          <a:p>
            <a:pPr>
              <a:spcAft>
                <a:spcPts val="600"/>
              </a:spcAft>
            </a:pPr>
            <a:r>
              <a:rPr sz="1450" b="0" i="0">
                <a:solidFill>
                  <a:srgbClr val="8B949E"/>
                </a:solidFill>
              </a:rPr>
              <a:t>· Buka http://127.0.0.1:2024 — server berjalan lokal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100" b="1" i="0">
                <a:solidFill>
                  <a:srgbClr val="58A6FF"/>
                </a:solidFill>
              </a:rPr>
              <a:t>ANTARMUKA 1/5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11247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3000" b="1" i="0">
                <a:solidFill>
                  <a:srgbClr val="E6EDF3"/>
                </a:solidFill>
              </a:rPr>
              <a:t>Panel Setup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481328"/>
            <a:ext cx="1463040" cy="41148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3550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000" b="0" i="0">
                <a:solidFill>
                  <a:srgbClr val="8B949E"/>
                </a:solidFill>
              </a:rPr>
              <a:t>Domino Analyzer Pro · by Dody Maulana Ramadhan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3550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8B949E"/>
                </a:solidFill>
              </a:rPr>
              <a:t>8 / 31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74519"/>
            <a:ext cx="108813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650" b="0" i="0">
                <a:solidFill>
                  <a:srgbClr val="E6EDF3"/>
                </a:solidFill>
              </a:rPr>
              <a:t>· Jumlah pemain (2/3/4) dan kartu per pemain</a:t>
            </a:r>
          </a:p>
          <a:p>
            <a:pPr>
              <a:spcAft>
                <a:spcPts val="1100"/>
              </a:spcAft>
            </a:pPr>
            <a:r>
              <a:rPr sz="1650" b="0" i="0">
                <a:solidFill>
                  <a:srgbClr val="E6EDF3"/>
                </a:solidFill>
              </a:rPr>
              <a:t>· Simulasi per kartu: 1000 / 5000 / 10000 (bawaan) / 50000 / 1,7 juta</a:t>
            </a:r>
          </a:p>
          <a:p>
            <a:pPr>
              <a:spcAft>
                <a:spcPts val="1100"/>
              </a:spcAft>
            </a:pPr>
            <a:r>
              <a:rPr sz="1650" b="0" i="0">
                <a:solidFill>
                  <a:srgbClr val="E6EDF3"/>
                </a:solidFill>
              </a:rPr>
              <a:t>· Tier 1,7 juta: peringatan waktu, tanpa mode Live, bisa dibatalkan</a:t>
            </a:r>
          </a:p>
          <a:p>
            <a:pPr>
              <a:spcAft>
                <a:spcPts val="1100"/>
              </a:spcAft>
            </a:pPr>
            <a:r>
              <a:rPr sz="1650" b="0" i="0">
                <a:solidFill>
                  <a:srgbClr val="E6EDF3"/>
                </a:solidFill>
              </a:rPr>
              <a:t>· Main Setelah Saya: siapa yang bermain tepat setelah Anda</a:t>
            </a:r>
          </a:p>
          <a:p>
            <a:pPr>
              <a:spcAft>
                <a:spcPts val="1100"/>
              </a:spcAft>
            </a:pPr>
            <a:r>
              <a:rPr sz="1650" b="0" i="0">
                <a:solidFill>
                  <a:srgbClr val="E6EDF3"/>
                </a:solidFill>
              </a:rPr>
              <a:t>· Adu: banding mata terkecil atau rata-rata</a:t>
            </a:r>
          </a:p>
          <a:p>
            <a:pPr>
              <a:spcAft>
                <a:spcPts val="1100"/>
              </a:spcAft>
            </a:pPr>
            <a:r>
              <a:rPr sz="1650" b="0" i="0">
                <a:solidFill>
                  <a:srgbClr val="E6EDF3"/>
                </a:solidFill>
              </a:rPr>
              <a:t>· Seri dihitung menang atau kalah</a:t>
            </a:r>
          </a:p>
          <a:p>
            <a:pPr>
              <a:spcAft>
                <a:spcPts val="1100"/>
              </a:spcAft>
            </a:pPr>
            <a:r>
              <a:rPr sz="1650" b="0" i="0">
                <a:solidFill>
                  <a:srgbClr val="E6EDF3"/>
                </a:solidFill>
              </a:rPr>
              <a:t>· Main cangkul? (sisa bisa disambar atau mati)</a:t>
            </a:r>
          </a:p>
          <a:p>
            <a:pPr>
              <a:spcAft>
                <a:spcPts val="1100"/>
              </a:spcAft>
            </a:pPr>
            <a:r>
              <a:rPr sz="1650" b="0" i="0">
                <a:solidFill>
                  <a:srgbClr val="E6EDF3"/>
                </a:solidFill>
              </a:rPr>
              <a:t>· Mode teliti: lawan respons cerdas, lebih lambat tapi lebih akurat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100" b="1" i="0">
                <a:solidFill>
                  <a:srgbClr val="58A6FF"/>
                </a:solidFill>
              </a:rPr>
              <a:t>ANTARMUKA 2/5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11247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3000" b="1" i="0">
                <a:solidFill>
                  <a:srgbClr val="E6EDF3"/>
                </a:solidFill>
              </a:rPr>
              <a:t>Papan bergaya ular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481328"/>
            <a:ext cx="1463040" cy="41148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3550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000" b="0" i="0">
                <a:solidFill>
                  <a:srgbClr val="8B949E"/>
                </a:solidFill>
              </a:rPr>
              <a:t>Domino Analyzer Pro · by Dody Maulana Ramadhan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3550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8B949E"/>
                </a:solidFill>
              </a:rPr>
              <a:t>9 / 31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74519"/>
            <a:ext cx="108813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650" b="0" i="0">
                <a:solidFill>
                  <a:srgbClr val="E6EDF3"/>
                </a:solidFill>
              </a:rPr>
              <a:t>· Rantai disusun dalam baris bergantian arah (boustrophedon)</a:t>
            </a:r>
          </a:p>
          <a:p>
            <a:pPr>
              <a:spcAft>
                <a:spcPts val="1100"/>
              </a:spcAft>
            </a:pPr>
            <a:r>
              <a:rPr sz="1650" b="0" i="0">
                <a:solidFill>
                  <a:srgbClr val="E6EDF3"/>
                </a:solidFill>
              </a:rPr>
              <a:t>· Kartu pertama berdiri tegak dan ditandai emas — pusat rantai</a:t>
            </a:r>
          </a:p>
          <a:p>
            <a:pPr>
              <a:spcAft>
                <a:spcPts val="1100"/>
              </a:spcAft>
            </a:pPr>
            <a:r>
              <a:rPr sz="1650" b="0" i="0">
                <a:solidFill>
                  <a:srgbClr val="E6EDF3"/>
                </a:solidFill>
              </a:rPr>
              <a:t>· Kartu siku di tikungan digambar berdiri agar sambungan rapat</a:t>
            </a:r>
          </a:p>
          <a:p>
            <a:pPr>
              <a:spcAft>
                <a:spcPts val="1100"/>
              </a:spcAft>
            </a:pPr>
            <a:r>
              <a:rPr sz="1650" b="0" i="0">
                <a:solidFill>
                  <a:srgbClr val="E6EDF3"/>
                </a:solidFill>
              </a:rPr>
              <a:t>· Ukuran kartu mengecil otomatis (sampai setengah) agar semua terlihat</a:t>
            </a:r>
          </a:p>
          <a:p>
            <a:pPr>
              <a:spcAft>
                <a:spcPts val="1100"/>
              </a:spcAft>
            </a:pPr>
            <a:r>
              <a:rPr sz="1650" b="0" i="0">
                <a:solidFill>
                  <a:srgbClr val="E6EDF3"/>
                </a:solidFill>
              </a:rPr>
              <a:t>· Kartu pertama selalu diupayakan berada di tengah papan</a:t>
            </a:r>
          </a:p>
          <a:p>
            <a:pPr>
              <a:spcAft>
                <a:spcPts val="1100"/>
              </a:spcAft>
            </a:pPr>
            <a:r>
              <a:rPr sz="1650" b="0" i="0">
                <a:solidFill>
                  <a:srgbClr val="E6EDF3"/>
                </a:solidFill>
              </a:rPr>
              <a:t>· Siluet biru menunjukkan tempat rekomendasi: di kepala atau kaki kartu pertama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100" b="1" i="0">
                <a:solidFill>
                  <a:srgbClr val="58A6FF"/>
                </a:solidFill>
              </a:rPr>
              <a:t>ANTARMUKA 3/5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11247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3000" b="1" i="0">
                <a:solidFill>
                  <a:srgbClr val="E6EDF3"/>
                </a:solidFill>
              </a:rPr>
              <a:t>Tangan, modal kartu, dan masukan cepat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481328"/>
            <a:ext cx="1463040" cy="41148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3550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000" b="0" i="0">
                <a:solidFill>
                  <a:srgbClr val="8B949E"/>
                </a:solidFill>
              </a:rPr>
              <a:t>Domino Analyzer Pro · by Dody Maulana Ramadhan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3550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8B949E"/>
                </a:solidFill>
              </a:rPr>
              <a:t>10 / 31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74519"/>
            <a:ext cx="108813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650" b="0" i="0">
                <a:solidFill>
                  <a:srgbClr val="E6EDF3"/>
                </a:solidFill>
              </a:rPr>
              <a:t>· Kartu hijau = bisa dimainkan; abu-abu = belum bisa</a:t>
            </a:r>
          </a:p>
          <a:p>
            <a:pPr>
              <a:spcAft>
                <a:spcPts val="1100"/>
              </a:spcAft>
            </a:pPr>
            <a:r>
              <a:rPr sz="1650" b="0" i="0">
                <a:solidFill>
                  <a:srgbClr val="E6EDF3"/>
                </a:solidFill>
              </a:rPr>
              <a:t>· Cincin biru berdenyut = kartu peringkat #1 dari analisis terakhir</a:t>
            </a:r>
          </a:p>
          <a:p>
            <a:pPr>
              <a:spcAft>
                <a:spcPts val="1100"/>
              </a:spcAft>
            </a:pPr>
            <a:r>
              <a:rPr sz="1650" b="0" i="0">
                <a:solidFill>
                  <a:srgbClr val="E6EDF3"/>
                </a:solidFill>
              </a:rPr>
              <a:t>· Modal 28 kartu: ketuk untuk memilih atau membatalkan pilihan</a:t>
            </a:r>
          </a:p>
          <a:p>
            <a:pPr>
              <a:spcAft>
                <a:spcPts val="1100"/>
              </a:spcAft>
            </a:pPr>
            <a:r>
              <a:rPr sz="1650" b="0" i="0">
                <a:solidFill>
                  <a:srgbClr val="E6EDF3"/>
                </a:solidFill>
              </a:rPr>
              <a:t>· Masukan cepat: dua kotak angka 0-6, urutan bebas, Enter untuk menambah</a:t>
            </a:r>
          </a:p>
          <a:p>
            <a:pPr>
              <a:spcAft>
                <a:spcPts val="1100"/>
              </a:spcAft>
            </a:pPr>
            <a:r>
              <a:rPr sz="1650" b="0" i="0">
                <a:solidFill>
                  <a:srgbClr val="E6EDF3"/>
                </a:solidFill>
              </a:rPr>
              <a:t>· Mengetik kartu yang sudah ada = menghapusnya (bolak-balik)</a:t>
            </a:r>
          </a:p>
          <a:p>
            <a:pPr>
              <a:spcAft>
                <a:spcPts val="1100"/>
              </a:spcAft>
            </a:pPr>
            <a:r>
              <a:rPr sz="1650" b="0" i="0">
                <a:solidFill>
                  <a:srgbClr val="E6EDF3"/>
                </a:solidFill>
              </a:rPr>
              <a:t>· Batas kartu per pemain ditegakkan dengan peringatan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100" b="1" i="0">
                <a:solidFill>
                  <a:srgbClr val="58A6FF"/>
                </a:solidFill>
              </a:rPr>
              <a:t>ANTARMUKA 4/5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11247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3000" b="1" i="0">
                <a:solidFill>
                  <a:srgbClr val="E6EDF3"/>
                </a:solidFill>
              </a:rPr>
              <a:t>Pelacakan lawan &amp; atribusi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481328"/>
            <a:ext cx="1463040" cy="41148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3550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000" b="0" i="0">
                <a:solidFill>
                  <a:srgbClr val="8B949E"/>
                </a:solidFill>
              </a:rPr>
              <a:t>Domino Analyzer Pro · by Dody Maulana Ramadhan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3550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8B949E"/>
                </a:solidFill>
              </a:rPr>
              <a:t>11 / 31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74519"/>
            <a:ext cx="108813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650" b="0" i="0">
                <a:solidFill>
                  <a:srgbClr val="E6EDF3"/>
                </a:solidFill>
              </a:rPr>
              <a:t>· Tombol PASS / LEWAT: mencatat ujung meja saat lawan tidak bisa jalan</a:t>
            </a:r>
          </a:p>
          <a:p>
            <a:pPr>
              <a:spcAft>
                <a:spcPts val="1100"/>
              </a:spcAft>
            </a:pPr>
            <a:r>
              <a:rPr sz="1650" b="0" i="0">
                <a:solidFill>
                  <a:srgbClr val="E6EDF3"/>
                </a:solidFill>
              </a:rPr>
              <a:t>· Efeknya: kedua angka ujung dihapus dari kemungkinan kartu lawan itu</a:t>
            </a:r>
          </a:p>
          <a:p>
            <a:pPr>
              <a:spcAft>
                <a:spcPts val="1100"/>
              </a:spcAft>
            </a:pPr>
            <a:r>
              <a:rPr sz="1650" b="0" i="0">
                <a:solidFill>
                  <a:srgbClr val="E6EDF3"/>
                </a:solidFill>
              </a:rPr>
              <a:t>· Kartu sisa diklik -&gt; pilih lawan pemainnya (atribusi)</a:t>
            </a:r>
          </a:p>
          <a:p>
            <a:pPr>
              <a:spcAft>
                <a:spcPts val="1100"/>
              </a:spcAft>
            </a:pPr>
            <a:r>
              <a:rPr sz="1650" b="0" i="0">
                <a:solidFill>
                  <a:srgbClr val="E6EDF3"/>
                </a:solidFill>
              </a:rPr>
              <a:t>· Kartu yang diatribusikan otomatis dieliminasi dari lawan lain</a:t>
            </a:r>
          </a:p>
          <a:p>
            <a:pPr>
              <a:spcAft>
                <a:spcPts val="1100"/>
              </a:spcAft>
            </a:pPr>
            <a:r>
              <a:rPr sz="1650" b="0" i="0">
                <a:solidFill>
                  <a:srgbClr val="E6EDF3"/>
                </a:solidFill>
              </a:rPr>
              <a:t>· Kisi kemungkinan kartu per lawan; yang berkilau merah bisa dimainkan sekarang</a:t>
            </a:r>
          </a:p>
          <a:p>
            <a:pPr>
              <a:spcAft>
                <a:spcPts val="1100"/>
              </a:spcAft>
            </a:pPr>
            <a:r>
              <a:rPr sz="1650" b="0" i="0">
                <a:solidFill>
                  <a:srgbClr val="E6EDF3"/>
                </a:solidFill>
              </a:rPr>
              <a:t>· Filter PASS menunjukkan berapa persen kemungkinan sudah dipersempit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100" b="1" i="0">
                <a:solidFill>
                  <a:srgbClr val="58A6FF"/>
                </a:solidFill>
              </a:rPr>
              <a:t>ANTARMUKA 5/5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11247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3000" b="1" i="0">
                <a:solidFill>
                  <a:srgbClr val="E6EDF3"/>
                </a:solidFill>
              </a:rPr>
              <a:t>Peta angka &amp; kartu sisa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481328"/>
            <a:ext cx="1463040" cy="41148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3550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000" b="0" i="0">
                <a:solidFill>
                  <a:srgbClr val="8B949E"/>
                </a:solidFill>
              </a:rPr>
              <a:t>Domino Analyzer Pro · by Dody Maulana Ramadhan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3550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8B949E"/>
                </a:solidFill>
              </a:rPr>
              <a:t>12 / 31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74519"/>
            <a:ext cx="108813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650" b="0" i="0">
                <a:solidFill>
                  <a:srgbClr val="E6EDF3"/>
                </a:solidFill>
              </a:rPr>
              <a:t>· Peta angka: untuk tiap angka 0-6, berapa di tangan saya / sudah keluar / belum diketahui</a:t>
            </a:r>
          </a:p>
          <a:p>
            <a:pPr>
              <a:spcAft>
                <a:spcPts val="1100"/>
              </a:spcAft>
            </a:pPr>
            <a:r>
              <a:rPr sz="1650" b="0" i="0">
                <a:solidFill>
                  <a:srgbClr val="E6EDF3"/>
                </a:solidFill>
              </a:rPr>
              <a:t>· Angka yang Anda kuasai 3 kali atau lebih ditandai dominan</a:t>
            </a:r>
          </a:p>
          <a:p>
            <a:pPr>
              <a:spcAft>
                <a:spcPts val="1100"/>
              </a:spcAft>
            </a:pPr>
            <a:r>
              <a:rPr sz="1650" b="0" i="0">
                <a:solidFill>
                  <a:srgbClr val="E6EDF3"/>
                </a:solidFill>
              </a:rPr>
              <a:t>· Angka yang habis dari peredaran ditandai exhausted — meja akan macet di situ</a:t>
            </a:r>
          </a:p>
          <a:p>
            <a:pPr>
              <a:spcAft>
                <a:spcPts val="1100"/>
              </a:spcAft>
            </a:pPr>
            <a:r>
              <a:rPr sz="1650" b="0" i="0">
                <a:solidFill>
                  <a:srgbClr val="E6EDF3"/>
                </a:solidFill>
              </a:rPr>
              <a:t>· Kartu sisa berubah perilaku sesuai pengaturan cangkul</a:t>
            </a:r>
          </a:p>
          <a:p>
            <a:pPr>
              <a:spcAft>
                <a:spcPts val="1100"/>
              </a:spcAft>
            </a:pPr>
            <a:r>
              <a:rPr sz="1650" b="0" i="0">
                <a:solidFill>
                  <a:srgbClr val="E6EDF3"/>
                </a:solidFill>
              </a:rPr>
              <a:t>· Cangkul mati: ditampilkan kartu yang paling mungkin tidak pernah masuk permainan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100" b="1" i="0">
                <a:solidFill>
                  <a:srgbClr val="58A6FF"/>
                </a:solidFill>
              </a:rPr>
              <a:t>ALUR KERJA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11247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3000" b="1" i="0">
                <a:solidFill>
                  <a:srgbClr val="E6EDF3"/>
                </a:solidFill>
              </a:rPr>
              <a:t>Mode LIVE, undo, dan sesi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481328"/>
            <a:ext cx="1463040" cy="41148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3550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000" b="0" i="0">
                <a:solidFill>
                  <a:srgbClr val="8B949E"/>
                </a:solidFill>
              </a:rPr>
              <a:t>Domino Analyzer Pro · by Dody Maulana Ramadhan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3550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8B949E"/>
                </a:solidFill>
              </a:rPr>
              <a:t>13 / 31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74519"/>
            <a:ext cx="108813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650" b="0" i="0">
                <a:solidFill>
                  <a:srgbClr val="E6EDF3"/>
                </a:solidFill>
              </a:rPr>
              <a:t>· LIVE aktif sejak aplikasi dibuka: analisis ulang setiap data berubah</a:t>
            </a:r>
          </a:p>
          <a:p>
            <a:pPr>
              <a:spcAft>
                <a:spcPts val="1100"/>
              </a:spcAft>
            </a:pPr>
            <a:r>
              <a:rPr sz="1650" b="0" i="0">
                <a:solidFill>
                  <a:srgbClr val="E6EDF3"/>
                </a:solidFill>
              </a:rPr>
              <a:t>· Tombol yang sama untuk menjeda; perhitungan berjalan bisa dibatalkan</a:t>
            </a:r>
          </a:p>
          <a:p>
            <a:pPr>
              <a:spcAft>
                <a:spcPts val="1100"/>
              </a:spcAft>
            </a:pPr>
            <a:r>
              <a:rPr sz="1650" b="0" i="0">
                <a:solidFill>
                  <a:srgbClr val="E6EDF3"/>
                </a:solidFill>
              </a:rPr>
              <a:t>· Permintaan baru saat analisis berjalan akan diantrekan, bukan ditumpuk</a:t>
            </a:r>
          </a:p>
          <a:p>
            <a:pPr>
              <a:spcAft>
                <a:spcPts val="1100"/>
              </a:spcAft>
            </a:pPr>
            <a:r>
              <a:rPr sz="1650" b="0" i="0">
                <a:solidFill>
                  <a:srgbClr val="E6EDF3"/>
                </a:solidFill>
              </a:rPr>
              <a:t>· Undo memulihkan kartu, PASS lawan, dan atribusi sekaligus (100 langkah)</a:t>
            </a:r>
          </a:p>
          <a:p>
            <a:pPr>
              <a:spcAft>
                <a:spcPts val="1100"/>
              </a:spcAft>
            </a:pPr>
            <a:r>
              <a:rPr sz="1650" b="0" i="0">
                <a:solidFill>
                  <a:srgbClr val="E6EDF3"/>
                </a:solidFill>
              </a:rPr>
              <a:t>· Simpan otomatis ke penyimpanan peramban</a:t>
            </a:r>
          </a:p>
          <a:p>
            <a:pPr>
              <a:spcAft>
                <a:spcPts val="1100"/>
              </a:spcAft>
            </a:pPr>
            <a:r>
              <a:rPr sz="1650" b="0" i="0">
                <a:solidFill>
                  <a:srgbClr val="E6EDF3"/>
                </a:solidFill>
              </a:rPr>
              <a:t>· Export/Import sesi sebagai JSON, divalidasi ketat saat dibaca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100" b="1" i="0">
                <a:solidFill>
                  <a:srgbClr val="58A6FF"/>
                </a:solidFill>
              </a:rPr>
              <a:t>ISTILAH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11247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3000" b="1" i="0">
                <a:solidFill>
                  <a:srgbClr val="E6EDF3"/>
                </a:solidFill>
              </a:rPr>
              <a:t>Dasar domino yang dipakai aplikasi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481328"/>
            <a:ext cx="1463040" cy="41148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3550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000" b="0" i="0">
                <a:solidFill>
                  <a:srgbClr val="8B949E"/>
                </a:solidFill>
              </a:rPr>
              <a:t>Domino Analyzer Pro · by Dody Maulana Ramadhan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3550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8B949E"/>
                </a:solidFill>
              </a:rPr>
              <a:t>14 / 31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74519"/>
            <a:ext cx="108813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650" b="0" i="0">
                <a:solidFill>
                  <a:srgbClr val="E6EDF3"/>
                </a:solidFill>
              </a:rPr>
              <a:t>· 28 kartu: 21 kartu beda angka + 7 balak (angka kembar)</a:t>
            </a:r>
          </a:p>
          <a:p>
            <a:pPr>
              <a:spcAft>
                <a:spcPts val="1100"/>
              </a:spcAft>
            </a:pPr>
            <a:r>
              <a:rPr sz="1650" b="0" i="0">
                <a:solidFill>
                  <a:srgbClr val="E6EDF3"/>
                </a:solidFill>
              </a:rPr>
              <a:t>· Nilai mata = jumlah kedua angka; balak 6-6 bernilai 12 (terbesar)</a:t>
            </a:r>
          </a:p>
          <a:p>
            <a:pPr>
              <a:spcAft>
                <a:spcPts val="1100"/>
              </a:spcAft>
            </a:pPr>
            <a:r>
              <a:rPr sz="1650" b="0" i="0">
                <a:solidFill>
                  <a:srgbClr val="E6EDF3"/>
                </a:solidFill>
              </a:rPr>
              <a:t>· Setiap angka 0-6 muncul tepat 7 kali di seluruh set</a:t>
            </a:r>
          </a:p>
          <a:p>
            <a:pPr>
              <a:spcAft>
                <a:spcPts val="1100"/>
              </a:spcAft>
            </a:pPr>
            <a:r>
              <a:rPr sz="1650" b="0" i="0">
                <a:solidFill>
                  <a:srgbClr val="E6EDF3"/>
                </a:solidFill>
              </a:rPr>
              <a:t>· Ujung meja: angka bebas di kiri dan kanan rantai</a:t>
            </a:r>
          </a:p>
          <a:p>
            <a:pPr>
              <a:spcAft>
                <a:spcPts val="1100"/>
              </a:spcAft>
            </a:pPr>
            <a:r>
              <a:rPr sz="1650" b="0" i="0">
                <a:solidFill>
                  <a:srgbClr val="E6EDF3"/>
                </a:solidFill>
              </a:rPr>
              <a:t>· PASS: tidak ada kartu yang bisa disambungkan</a:t>
            </a:r>
          </a:p>
          <a:p>
            <a:pPr>
              <a:spcAft>
                <a:spcPts val="1100"/>
              </a:spcAft>
            </a:pPr>
            <a:r>
              <a:rPr sz="1650" b="0" i="0">
                <a:solidFill>
                  <a:srgbClr val="E6EDF3"/>
                </a:solidFill>
              </a:rPr>
              <a:t>· Adu: permainan macet, pemenang ditentukan nilai mata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100" b="1" i="0">
                <a:solidFill>
                  <a:srgbClr val="58A6FF"/>
                </a:solidFill>
              </a:rPr>
              <a:t>ATURAN MEJA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11247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3000" b="1" i="0">
                <a:solidFill>
                  <a:srgbClr val="E6EDF3"/>
                </a:solidFill>
              </a:rPr>
              <a:t>Cangkul dan sisa mati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481328"/>
            <a:ext cx="1463040" cy="41148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3550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000" b="0" i="0">
                <a:solidFill>
                  <a:srgbClr val="8B949E"/>
                </a:solidFill>
              </a:rPr>
              <a:t>Domino Analyzer Pro · by Dody Maulana Ramadhan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3550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8B949E"/>
                </a:solidFill>
              </a:rPr>
              <a:t>15 / 31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74519"/>
            <a:ext cx="108813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650" b="0" i="0">
                <a:solidFill>
                  <a:srgbClr val="E6EDF3"/>
                </a:solidFill>
              </a:rPr>
              <a:t>· Cangkul: pemain yang PASS menyambar kartu sisa sampai bisa main</a:t>
            </a:r>
          </a:p>
          <a:p>
            <a:pPr>
              <a:spcAft>
                <a:spcPts val="1100"/>
              </a:spcAft>
            </a:pPr>
            <a:r>
              <a:rPr sz="1650" b="0" i="0">
                <a:solidFill>
                  <a:srgbClr val="E6EDF3"/>
                </a:solidFill>
              </a:rPr>
              <a:t>· Jumlah sisa = 28 - (pemain x kartu per pemain): 4 pemain x 7 = 0 sisa</a:t>
            </a:r>
          </a:p>
          <a:p>
            <a:pPr>
              <a:spcAft>
                <a:spcPts val="1100"/>
              </a:spcAft>
            </a:pPr>
            <a:r>
              <a:rPr sz="1650" b="0" i="0">
                <a:solidFill>
                  <a:srgbClr val="E6EDF3"/>
                </a:solidFill>
              </a:rPr>
              <a:t>· Bila cangkul aktif, setiap sambaran yang terlihat sebaiknya diatribusikan</a:t>
            </a:r>
          </a:p>
          <a:p>
            <a:pPr>
              <a:spcAft>
                <a:spcPts val="1100"/>
              </a:spcAft>
            </a:pPr>
            <a:r>
              <a:rPr sz="1650" b="0" i="0">
                <a:solidFill>
                  <a:srgbClr val="E6EDF3"/>
                </a:solidFill>
              </a:rPr>
              <a:t>· Bila cangkul mati, sisa tidak pernah masuk permainan</a:t>
            </a:r>
          </a:p>
          <a:p>
            <a:pPr>
              <a:spcAft>
                <a:spcPts val="1100"/>
              </a:spcAft>
            </a:pPr>
            <a:r>
              <a:rPr sz="1650" b="0" i="0">
                <a:solidFill>
                  <a:srgbClr val="E6EDF3"/>
                </a:solidFill>
              </a:rPr>
              <a:t>· Mesin menghitung peluang tiap kartu berakhir di sisa (simulasi pembagian)</a:t>
            </a:r>
          </a:p>
          <a:p>
            <a:pPr>
              <a:spcAft>
                <a:spcPts val="1100"/>
              </a:spcAft>
            </a:pPr>
            <a:r>
              <a:rPr sz="1650" b="0" i="0">
                <a:solidFill>
                  <a:srgbClr val="E6EDF3"/>
                </a:solidFill>
              </a:rPr>
              <a:t>· Angka yang banyak mati di sisa menjadi langka -&gt; meja lebih mudah macet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100" b="1" i="0">
                <a:solidFill>
                  <a:srgbClr val="58A6FF"/>
                </a:solidFill>
              </a:rPr>
              <a:t>ATURAN MEJA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11247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3000" b="1" i="0">
                <a:solidFill>
                  <a:srgbClr val="E6EDF3"/>
                </a:solidFill>
              </a:rPr>
              <a:t>Adu dan konvensi meja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481328"/>
            <a:ext cx="1463040" cy="41148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3550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000" b="0" i="0">
                <a:solidFill>
                  <a:srgbClr val="8B949E"/>
                </a:solidFill>
              </a:rPr>
              <a:t>Domino Analyzer Pro · by Dody Maulana Ramadhan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3550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8B949E"/>
                </a:solidFill>
              </a:rPr>
              <a:t>16 / 31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74519"/>
            <a:ext cx="108813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650" b="0" i="0">
                <a:solidFill>
                  <a:srgbClr val="E6EDF3"/>
                </a:solidFill>
              </a:rPr>
              <a:t>· Adu terjadi bila semua pemain PASS dalam satu putaran penuh</a:t>
            </a:r>
          </a:p>
          <a:p>
            <a:pPr>
              <a:spcAft>
                <a:spcPts val="1100"/>
              </a:spcAft>
            </a:pPr>
            <a:r>
              <a:rPr sz="1650" b="0" i="0">
                <a:solidFill>
                  <a:srgbClr val="E6EDF3"/>
                </a:solidFill>
              </a:rPr>
              <a:t>· Mata terkecil: nilai mata Anda dibandingkan nilai mata terkecil lawan</a:t>
            </a:r>
          </a:p>
          <a:p>
            <a:pPr>
              <a:spcAft>
                <a:spcPts val="1100"/>
              </a:spcAft>
            </a:pPr>
            <a:r>
              <a:rPr sz="1650" b="0" i="0">
                <a:solidFill>
                  <a:srgbClr val="E6EDF3"/>
                </a:solidFill>
              </a:rPr>
              <a:t>· Rata-rata: dibandingkan rata-rata nilai mata semua lawan</a:t>
            </a:r>
          </a:p>
          <a:p>
            <a:pPr>
              <a:spcAft>
                <a:spcPts val="1100"/>
              </a:spcAft>
            </a:pPr>
            <a:r>
              <a:rPr sz="1650" b="0" i="0">
                <a:solidFill>
                  <a:srgbClr val="E6EDF3"/>
                </a:solidFill>
              </a:rPr>
              <a:t>· Seri: bisa dihitung menang atau kalah</a:t>
            </a:r>
          </a:p>
          <a:p>
            <a:pPr>
              <a:spcAft>
                <a:spcPts val="1100"/>
              </a:spcAft>
            </a:pPr>
            <a:r>
              <a:rPr sz="1650" b="0" i="0">
                <a:solidFill>
                  <a:srgbClr val="E6EDF3"/>
                </a:solidFill>
              </a:rPr>
              <a:t>· Pilihan ini mengubah seluruh angka peluang dan bar 'menang lewat adu'</a:t>
            </a:r>
          </a:p>
          <a:p>
            <a:pPr>
              <a:spcAft>
                <a:spcPts val="1100"/>
              </a:spcAft>
            </a:pPr>
            <a:r>
              <a:rPr sz="1650" b="0" i="0">
                <a:solidFill>
                  <a:srgbClr val="E6EDF3"/>
                </a:solidFill>
              </a:rPr>
              <a:t>· Kartu besar dan balak adalah beban bila permainan mengarah ke adu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100" b="1" i="0">
                <a:solidFill>
                  <a:srgbClr val="58A6FF"/>
                </a:solidFill>
              </a:rPr>
              <a:t>ISI MESIN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11247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3000" b="1" i="0">
                <a:solidFill>
                  <a:srgbClr val="E6EDF3"/>
                </a:solidFill>
              </a:rPr>
              <a:t>Mesin: Monte-Carlo per kandidat langkah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481328"/>
            <a:ext cx="1463040" cy="41148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3550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000" b="0" i="0">
                <a:solidFill>
                  <a:srgbClr val="8B949E"/>
                </a:solidFill>
              </a:rPr>
              <a:t>Domino Analyzer Pro · by Dody Maulana Ramadhan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3550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8B949E"/>
                </a:solidFill>
              </a:rPr>
              <a:t>17 / 31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7987" y="2011680"/>
            <a:ext cx="2148840" cy="1051560"/>
          </a:xfrm>
          <a:prstGeom prst="roundRect">
            <a:avLst/>
          </a:prstGeom>
          <a:solidFill>
            <a:srgbClr val="161B22"/>
          </a:solidFill>
          <a:ln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E6EDF3"/>
                </a:solidFill>
              </a:rPr>
              <a:t>Satu kandidat langkah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515971" y="2468880"/>
            <a:ext cx="164592" cy="201168"/>
          </a:xfrm>
          <a:prstGeom prst="rightArrow">
            <a:avLst/>
          </a:prstGeom>
          <a:solidFill>
            <a:srgbClr val="8B94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689707" y="2011680"/>
            <a:ext cx="2148840" cy="1051560"/>
          </a:xfrm>
          <a:prstGeom prst="roundRect">
            <a:avLst/>
          </a:prstGeom>
          <a:solidFill>
            <a:srgbClr val="161B22"/>
          </a:solidFill>
          <a:ln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E6EDF3"/>
                </a:solidFill>
              </a:rPr>
              <a:t>N pembagian kartu (batasan dihormati)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847691" y="2468880"/>
            <a:ext cx="164592" cy="201168"/>
          </a:xfrm>
          <a:prstGeom prst="rightArrow">
            <a:avLst/>
          </a:prstGeom>
          <a:solidFill>
            <a:srgbClr val="8B94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21427" y="2011680"/>
            <a:ext cx="2148840" cy="1051560"/>
          </a:xfrm>
          <a:prstGeom prst="roundRect">
            <a:avLst/>
          </a:prstGeom>
          <a:solidFill>
            <a:srgbClr val="161B22"/>
          </a:solidFill>
          <a:ln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E6EDF3"/>
                </a:solidFill>
              </a:rPr>
              <a:t>N gim penuh dimainkan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179411" y="2468880"/>
            <a:ext cx="164592" cy="201168"/>
          </a:xfrm>
          <a:prstGeom prst="rightArrow">
            <a:avLst/>
          </a:prstGeom>
          <a:solidFill>
            <a:srgbClr val="8B94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353147" y="2011680"/>
            <a:ext cx="2148840" cy="1051560"/>
          </a:xfrm>
          <a:prstGeom prst="roundRect">
            <a:avLst/>
          </a:prstGeom>
          <a:solidFill>
            <a:srgbClr val="161B22"/>
          </a:solidFill>
          <a:ln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E6EDF3"/>
                </a:solidFill>
              </a:rPr>
              <a:t>Agregasi hasil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9511131" y="2468880"/>
            <a:ext cx="164592" cy="201168"/>
          </a:xfrm>
          <a:prstGeom prst="rightArrow">
            <a:avLst/>
          </a:prstGeom>
          <a:solidFill>
            <a:srgbClr val="8B94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684867" y="2011680"/>
            <a:ext cx="2148840" cy="1051560"/>
          </a:xfrm>
          <a:prstGeom prst="roundRect">
            <a:avLst/>
          </a:prstGeom>
          <a:solidFill>
            <a:srgbClr val="161B22"/>
          </a:solidFill>
          <a:ln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E6EDF3"/>
                </a:solidFill>
              </a:rPr>
              <a:t>rankScore + interval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566160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 i="0">
                <a:solidFill>
                  <a:srgbClr val="E6EDF3"/>
                </a:solidFill>
              </a:rPr>
              <a:t>· Setiap ulangan memakai pembagian kartu dan gaya lawan yang berbeda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E6EDF3"/>
                </a:solidFill>
              </a:rPr>
              <a:t>· Konservasi kartu diverifikasi setiap gim (28 kartu tidak boleh berubah)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E6EDF3"/>
                </a:solidFill>
              </a:rPr>
              <a:t>· Batas 300 giliran menjamin simulasi selalu berhenti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100" b="1" i="0">
                <a:solidFill>
                  <a:srgbClr val="58A6FF"/>
                </a:solidFill>
              </a:rPr>
              <a:t>ISI MESIN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11247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3000" b="1" i="0">
                <a:solidFill>
                  <a:srgbClr val="E6EDF3"/>
                </a:solidFill>
              </a:rPr>
              <a:t>Tiga profil lawan + mode teliti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481328"/>
            <a:ext cx="1463040" cy="41148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3550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000" b="0" i="0">
                <a:solidFill>
                  <a:srgbClr val="8B949E"/>
                </a:solidFill>
              </a:rPr>
              <a:t>Domino Analyzer Pro · by Dody Maulana Ramadhan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3550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8B949E"/>
                </a:solidFill>
              </a:rPr>
              <a:t>18 / 31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74519"/>
            <a:ext cx="108813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650" b="0" i="0">
                <a:solidFill>
                  <a:srgbClr val="E6EDF3"/>
                </a:solidFill>
              </a:rPr>
              <a:t>· Blocker: menyisakan ujung sepi, membuat lawan PASS</a:t>
            </a:r>
          </a:p>
          <a:p>
            <a:pPr>
              <a:spcAft>
                <a:spcPts val="1100"/>
              </a:spcAft>
            </a:pPr>
            <a:r>
              <a:rPr sz="1650" b="0" i="0">
                <a:solidFill>
                  <a:srgbClr val="E6EDF3"/>
                </a:solidFill>
              </a:rPr>
              <a:t>· Hoarder: menyimpan kartu dari angka kuatnya</a:t>
            </a:r>
          </a:p>
          <a:p>
            <a:pPr>
              <a:spcAft>
                <a:spcPts val="1100"/>
              </a:spcAft>
            </a:pPr>
            <a:r>
              <a:rPr sz="1650" b="0" i="0">
                <a:solidFill>
                  <a:srgbClr val="E6EDF3"/>
                </a:solidFill>
              </a:rPr>
              <a:t>· Dumper: cepat membuang kartu besar dan balak</a:t>
            </a:r>
          </a:p>
          <a:p>
            <a:pPr>
              <a:spcAft>
                <a:spcPts val="1100"/>
              </a:spcAft>
            </a:pPr>
            <a:r>
              <a:rPr sz="1650" b="0" i="0">
                <a:solidFill>
                  <a:srgbClr val="E6EDF3"/>
                </a:solidFill>
              </a:rPr>
              <a:t>· Profil dirotasi antar simulasi -&gt; rekomendasi tidak terjebak satu gaya</a:t>
            </a:r>
          </a:p>
          <a:p>
            <a:pPr>
              <a:spcAft>
                <a:spcPts val="1100"/>
              </a:spcAft>
            </a:pPr>
            <a:r>
              <a:rPr sz="1650" b="0" i="0">
                <a:solidFill>
                  <a:srgbClr val="E6EDF3"/>
                </a:solidFill>
              </a:rPr>
              <a:t>· Mode teliti: lawan yang bermain tepat setelah Anda bermain ketat tanpa derau</a:t>
            </a:r>
          </a:p>
          <a:p>
            <a:pPr>
              <a:spcAft>
                <a:spcPts val="1100"/>
              </a:spcAft>
            </a:pPr>
            <a:r>
              <a:rPr sz="1650" b="0" i="0">
                <a:solidFill>
                  <a:srgbClr val="E6EDF3"/>
                </a:solidFill>
              </a:rPr>
              <a:t>· Efeknya: estimasi lebih konservatif, seperti melawan lawan tanpa kesalahan bodoh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100" b="1" i="0">
                <a:solidFill>
                  <a:srgbClr val="58A6FF"/>
                </a:solidFill>
              </a:rPr>
              <a:t>ISI MESIN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11247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3000" b="1" i="0">
                <a:solidFill>
                  <a:srgbClr val="E6EDF3"/>
                </a:solidFill>
              </a:rPr>
              <a:t>Pembagian kartu yang sadar batasan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481328"/>
            <a:ext cx="1463040" cy="41148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3550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000" b="0" i="0">
                <a:solidFill>
                  <a:srgbClr val="8B949E"/>
                </a:solidFill>
              </a:rPr>
              <a:t>Domino Analyzer Pro · by Dody Maulana Ramadhan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3550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8B949E"/>
                </a:solidFill>
              </a:rPr>
              <a:t>19 / 31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74519"/>
            <a:ext cx="108813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650" b="0" i="0">
                <a:solidFill>
                  <a:srgbClr val="E6EDF3"/>
                </a:solidFill>
              </a:rPr>
              <a:t>· Prioritas 0: kartu yang PASTI milik lawan (atribusi Anda) dipaksa masuk ke tangannya</a:t>
            </a:r>
          </a:p>
          <a:p>
            <a:pPr>
              <a:spcAft>
                <a:spcPts val="1100"/>
              </a:spcAft>
            </a:pPr>
            <a:r>
              <a:rPr sz="1650" b="0" i="0">
                <a:solidFill>
                  <a:srgbClr val="E6EDF3"/>
                </a:solidFill>
              </a:rPr>
              <a:t>· Prioritas 1: kartu berangka yang di-PASS lawan dibuang dari undian untuknya</a:t>
            </a:r>
          </a:p>
          <a:p>
            <a:pPr>
              <a:spcAft>
                <a:spcPts val="1100"/>
              </a:spcAft>
            </a:pPr>
            <a:r>
              <a:rPr sz="1650" b="0" i="0">
                <a:solidFill>
                  <a:srgbClr val="E6EDF3"/>
                </a:solidFill>
              </a:rPr>
              <a:t>· Prioritas 2: bila kuota mustahil dipenuhi, batasan dilepas dan dicatat sebagai fallback</a:t>
            </a:r>
          </a:p>
          <a:p>
            <a:pPr>
              <a:spcAft>
                <a:spcPts val="1100"/>
              </a:spcAft>
            </a:pPr>
            <a:r>
              <a:rPr sz="1650" b="0" i="0">
                <a:solidFill>
                  <a:srgbClr val="E6EDF3"/>
                </a:solidFill>
              </a:rPr>
              <a:t>· Lawan dengan batasan paling ketat dilayani lebih dulu</a:t>
            </a:r>
          </a:p>
          <a:p>
            <a:pPr>
              <a:spcAft>
                <a:spcPts val="1100"/>
              </a:spcAft>
            </a:pPr>
            <a:r>
              <a:rPr sz="1650" b="0" i="0">
                <a:solidFill>
                  <a:srgbClr val="E6EDF3"/>
                </a:solidFill>
              </a:rPr>
              <a:t>· Bila atribusi bertentangan dengan bukti PASS, bukti PASS yang menang</a:t>
            </a:r>
          </a:p>
          <a:p>
            <a:pPr>
              <a:spcAft>
                <a:spcPts val="1100"/>
              </a:spcAft>
            </a:pPr>
            <a:r>
              <a:rPr sz="1650" b="0" i="0">
                <a:solidFill>
                  <a:srgbClr val="E6EDF3"/>
                </a:solidFill>
              </a:rPr>
              <a:t>· Fallback dilaporkan, bukan disembunyikan: sekitar 57 dari 400 skenario acak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100" b="1" i="0">
                <a:solidFill>
                  <a:srgbClr val="58A6FF"/>
                </a:solidFill>
              </a:rPr>
              <a:t>ISI MESIN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11247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3000" b="1" i="0">
                <a:solidFill>
                  <a:srgbClr val="E6EDF3"/>
                </a:solidFill>
              </a:rPr>
              <a:t>rankScore: satu sumber kebenaran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481328"/>
            <a:ext cx="1463040" cy="41148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3550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000" b="0" i="0">
                <a:solidFill>
                  <a:srgbClr val="8B949E"/>
                </a:solidFill>
              </a:rPr>
              <a:t>Domino Analyzer Pro · by Dody Maulana Ramadhan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3550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8B949E"/>
                </a:solidFill>
              </a:rPr>
              <a:t>20 / 31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150" b="0" i="0">
                <a:solidFill>
                  <a:srgbClr val="E6EDF3"/>
                </a:solidFill>
              </a:rPr>
              <a:t>winRate x 100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977639" y="1783080"/>
            <a:ext cx="6035040" cy="201168"/>
          </a:xfrm>
          <a:prstGeom prst="round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121408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150" b="0" i="0">
                <a:solidFill>
                  <a:srgbClr val="E6EDF3"/>
                </a:solidFill>
              </a:rPr>
              <a:t>domSupport x 0,6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77639" y="2167128"/>
            <a:ext cx="3621024" cy="201168"/>
          </a:xfrm>
          <a:prstGeom prst="round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505456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150" b="0" i="0">
                <a:solidFill>
                  <a:srgbClr val="E6EDF3"/>
                </a:solidFill>
              </a:rPr>
              <a:t>trapScore x 0,8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977639" y="2551176"/>
            <a:ext cx="4828032" cy="201168"/>
          </a:xfrm>
          <a:prstGeom prst="roundRect">
            <a:avLst/>
          </a:prstGeom>
          <a:solidFill>
            <a:srgbClr val="BC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889504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150" b="0" i="0">
                <a:solidFill>
                  <a:srgbClr val="E6EDF3"/>
                </a:solidFill>
              </a:rPr>
              <a:t>blockScore x 0,7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977639" y="2935224"/>
            <a:ext cx="4224528" cy="201168"/>
          </a:xfrm>
          <a:prstGeom prst="roundRect">
            <a:avLst/>
          </a:prstGeom>
          <a:solidFill>
            <a:srgbClr val="D29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273552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150" b="0" i="0">
                <a:solidFill>
                  <a:srgbClr val="E6EDF3"/>
                </a:solidFill>
              </a:rPr>
              <a:t>deadlock x 20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977639" y="3319272"/>
            <a:ext cx="1207008" cy="201168"/>
          </a:xfrm>
          <a:prstGeom prst="round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65760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150" b="0" i="0">
                <a:solidFill>
                  <a:srgbClr val="E6EDF3"/>
                </a:solidFill>
              </a:rPr>
              <a:t>guaranteedBlocks x 8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977639" y="3703320"/>
            <a:ext cx="482803" cy="201168"/>
          </a:xfrm>
          <a:prstGeom prst="roundRect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041648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150" b="0" i="0">
                <a:solidFill>
                  <a:srgbClr val="E6EDF3"/>
                </a:solidFill>
              </a:rPr>
              <a:t>avgOppPasses x 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977639" y="4087368"/>
            <a:ext cx="181051" cy="201168"/>
          </a:xfrm>
          <a:prstGeom prst="roundRect">
            <a:avLst/>
          </a:prstGeom>
          <a:solidFill>
            <a:srgbClr val="8B94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425696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150" b="0" i="0">
                <a:solidFill>
                  <a:srgbClr val="E6EDF3"/>
                </a:solidFill>
              </a:rPr>
              <a:t>safetyRatio x 30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977639" y="4471416"/>
            <a:ext cx="1810512" cy="201168"/>
          </a:xfrm>
          <a:prstGeom prst="roundRect">
            <a:avLst/>
          </a:prstGeom>
          <a:solidFill>
            <a:srgbClr val="B47E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4809744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150" b="0" i="0">
                <a:solidFill>
                  <a:srgbClr val="E6EDF3"/>
                </a:solidFill>
              </a:rPr>
              <a:t>selfTrap x -0,5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977639" y="4855464"/>
            <a:ext cx="3017520" cy="201168"/>
          </a:xfrm>
          <a:prstGeom prst="roundRect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5193792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150" b="0" i="0">
                <a:solidFill>
                  <a:srgbClr val="E6EDF3"/>
                </a:solidFill>
              </a:rPr>
              <a:t>riskScore x -0,5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977639" y="5239512"/>
            <a:ext cx="3017520" cy="201168"/>
          </a:xfrm>
          <a:prstGeom prst="roundRect">
            <a:avLst/>
          </a:prstGeom>
          <a:solidFill>
            <a:srgbClr val="9B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56235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 i="0">
                <a:solidFill>
                  <a:srgbClr val="8B949E"/>
                </a:solidFill>
              </a:rPr>
              <a:t>· Peluang menang berbobot paling besar: komponen taktis hanya memisahkan langkah yang berdekatan</a:t>
            </a:r>
          </a:p>
          <a:p>
            <a:pPr>
              <a:spcAft>
                <a:spcPts val="600"/>
              </a:spcAft>
            </a:pPr>
            <a:r>
              <a:rPr sz="1200" b="0" i="0">
                <a:solidFill>
                  <a:srgbClr val="8B949E"/>
                </a:solidFill>
              </a:rPr>
              <a:t>· Formula ini empat baris kode di mesin, bukan skor rahasia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100" b="1" i="0">
                <a:solidFill>
                  <a:srgbClr val="58A6FF"/>
                </a:solidFill>
              </a:rPr>
              <a:t>BUKTI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11247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3000" b="1" i="0">
                <a:solidFill>
                  <a:srgbClr val="E6EDF3"/>
                </a:solidFill>
              </a:rPr>
              <a:t>Contoh nyata: peluang vs bentuk permainan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481328"/>
            <a:ext cx="1463040" cy="41148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3550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000" b="0" i="0">
                <a:solidFill>
                  <a:srgbClr val="8B949E"/>
                </a:solidFill>
              </a:rPr>
              <a:t>Domino Analyzer Pro · by Dody Maulana Ramadhan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3550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8B949E"/>
                </a:solidFill>
              </a:rPr>
              <a:t>21 / 31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783080"/>
          <a:ext cx="1088136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1554480"/>
                <a:gridCol w="1554480"/>
                <a:gridCol w="1554480"/>
                <a:gridCol w="1554480"/>
                <a:gridCol w="1554480"/>
                <a:gridCol w="1554480"/>
              </a:tblGrid>
              <a:tr h="32004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E6EDF3"/>
                          </a:solidFill>
                        </a:rPr>
                        <a:t>Kartu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E6EDF3"/>
                          </a:solidFill>
                        </a:rPr>
                        <a:t>Ujung baru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E6EDF3"/>
                          </a:solidFill>
                        </a:rPr>
                        <a:t>Peluang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E6EDF3"/>
                          </a:solidFill>
                        </a:rPr>
                        <a:t>Selang 95%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E6EDF3"/>
                          </a:solidFill>
                        </a:rPr>
                        <a:t>rankScore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E6EDF3"/>
                          </a:solidFill>
                        </a:rPr>
                        <a:t>Jerat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E6EDF3"/>
                          </a:solidFill>
                        </a:rPr>
                        <a:t>Jebakan diri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C9D1D9"/>
                          </a:solidFill>
                        </a:rPr>
                        <a:t>3-6 (kiri)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C9D1D9"/>
                          </a:solidFill>
                        </a:rPr>
                        <a:t>6 |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C9D1D9"/>
                          </a:solidFill>
                        </a:rPr>
                        <a:t>69,2%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C9D1D9"/>
                          </a:solidFill>
                        </a:rPr>
                        <a:t>65,0-73,1%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C9D1D9"/>
                          </a:solidFill>
                        </a:rPr>
                        <a:t>84,2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C9D1D9"/>
                          </a:solidFill>
                        </a:rP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C9D1D9"/>
                          </a:solidFill>
                        </a:rPr>
                        <a:t>0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C9D1D9"/>
                          </a:solidFill>
                        </a:rPr>
                        <a:t>2-3 (kiri)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C9D1D9"/>
                          </a:solidFill>
                        </a:rPr>
                        <a:t>2 |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C9D1D9"/>
                          </a:solidFill>
                        </a:rPr>
                        <a:t>71,2%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C9D1D9"/>
                          </a:solidFill>
                        </a:rPr>
                        <a:t>67,1-75,0%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C9D1D9"/>
                          </a:solidFill>
                        </a:rPr>
                        <a:t>60,4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C9D1D9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C9D1D9"/>
                          </a:solidFill>
                        </a:rPr>
                        <a:t>6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C9D1D9"/>
                          </a:solidFill>
                        </a:rPr>
                        <a:t>1-5 (kanan)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C9D1D9"/>
                          </a:solidFill>
                        </a:rPr>
                        <a:t>3 | 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C9D1D9"/>
                          </a:solidFill>
                        </a:rPr>
                        <a:t>60,0%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C9D1D9"/>
                          </a:solidFill>
                        </a:rPr>
                        <a:t>55,6-64,2%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C9D1D9"/>
                          </a:solidFill>
                        </a:rPr>
                        <a:t>51,3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C9D1D9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C9D1D9"/>
                          </a:solidFill>
                        </a:rPr>
                        <a:t>6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3429000"/>
            <a:ext cx="1088136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50" b="0" i="0">
                <a:solidFill>
                  <a:srgbClr val="8B949E"/>
                </a:solidFill>
              </a:rPr>
              <a:t>· 2-3 punya peluang menang lebih tinggi, tetapi #1 adalah 3-6</a:t>
            </a:r>
          </a:p>
          <a:p>
            <a:pPr>
              <a:spcAft>
                <a:spcPts val="600"/>
              </a:spcAft>
            </a:pPr>
            <a:r>
              <a:rPr sz="1450" b="0" i="0">
                <a:solidFill>
                  <a:srgbClr val="8B949E"/>
                </a:solidFill>
              </a:rPr>
              <a:t>· Alasannya: 3-6 memasang jerat angka dominan 6 dan tidak menyisakan ujung berbahaya</a:t>
            </a:r>
          </a:p>
          <a:p>
            <a:pPr>
              <a:spcAft>
                <a:spcPts val="600"/>
              </a:spcAft>
            </a:pPr>
            <a:r>
              <a:rPr sz="1450" b="0" i="0">
                <a:solidFill>
                  <a:srgbClr val="8B949E"/>
                </a:solidFill>
              </a:rPr>
              <a:t>· Selang kedua kartu saling menumpuk -&gt; beda 2 poin persen itu bukan sinyal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100" b="1" i="0">
                <a:solidFill>
                  <a:srgbClr val="58A6FF"/>
                </a:solidFill>
              </a:rPr>
              <a:t>KEJUJURAN STATISTIK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11247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3000" b="1" i="0">
                <a:solidFill>
                  <a:srgbClr val="E6EDF3"/>
                </a:solidFill>
              </a:rPr>
              <a:t>Interval keyakinan Wilson 95%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481328"/>
            <a:ext cx="1463040" cy="41148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3550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000" b="0" i="0">
                <a:solidFill>
                  <a:srgbClr val="8B949E"/>
                </a:solidFill>
              </a:rPr>
              <a:t>Domino Analyzer Pro · by Dody Maulana Ramadhan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3550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8B949E"/>
                </a:solidFill>
              </a:rPr>
              <a:t>22 / 31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74519"/>
            <a:ext cx="108813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650" b="0" i="0">
                <a:solidFill>
                  <a:srgbClr val="E6EDF3"/>
                </a:solidFill>
              </a:rPr>
              <a:t>· Setiap peluang menang disertai selang: rentang nilai yang masuk akal</a:t>
            </a:r>
          </a:p>
          <a:p>
            <a:pPr>
              <a:spcAft>
                <a:spcPts val="1100"/>
              </a:spcAft>
            </a:pPr>
            <a:r>
              <a:rPr sz="1650" b="0" i="0">
                <a:solidFill>
                  <a:srgbClr val="E6EDF3"/>
                </a:solidFill>
              </a:rPr>
              <a:t>· Lebar selang menyempit mengikuti akar jumlah simulasi</a:t>
            </a:r>
          </a:p>
          <a:p>
            <a:pPr>
              <a:spcAft>
                <a:spcPts val="1100"/>
              </a:spcAft>
            </a:pPr>
            <a:r>
              <a:rPr sz="1650" b="0" i="0">
                <a:solidFill>
                  <a:srgbClr val="E6EDF3"/>
                </a:solidFill>
              </a:rPr>
              <a:t>· 200 simulasi: lebar sekitar 13,7 poin; 2000: 4,4 poin; 5000: 2,8 poin</a:t>
            </a:r>
          </a:p>
          <a:p>
            <a:pPr>
              <a:spcAft>
                <a:spcPts val="1100"/>
              </a:spcAft>
            </a:pPr>
            <a:r>
              <a:rPr sz="1650" b="0" i="0">
                <a:solidFill>
                  <a:srgbClr val="E6EDF3"/>
                </a:solidFill>
              </a:rPr>
              <a:t>· Dua langkah hanya berbeda nyata bila selangnya tidak bertumpuk</a:t>
            </a:r>
          </a:p>
          <a:p>
            <a:pPr>
              <a:spcAft>
                <a:spcPts val="1100"/>
              </a:spcAft>
            </a:pPr>
            <a:r>
              <a:rPr sz="1650" b="0" i="0">
                <a:solidFill>
                  <a:srgbClr val="E6EDF3"/>
                </a:solidFill>
              </a:rPr>
              <a:t>· Rumus ini pernah salah dan selalu menghasilkan 0-100%</a:t>
            </a:r>
          </a:p>
          <a:p>
            <a:pPr>
              <a:spcAft>
                <a:spcPts val="1100"/>
              </a:spcAft>
            </a:pPr>
            <a:r>
              <a:rPr sz="1650" b="0" i="0">
                <a:solidFill>
                  <a:srgbClr val="E6EDF3"/>
                </a:solidFill>
              </a:rPr>
              <a:t>· Sudah diperbaiki, dan kini dijaga oleh pemeriksaan mandiri khusus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100" b="1" i="0">
                <a:solidFill>
                  <a:srgbClr val="58A6FF"/>
                </a:solidFill>
              </a:rPr>
              <a:t>PANDUAN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11247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3000" b="1" i="0">
                <a:solidFill>
                  <a:srgbClr val="E6EDF3"/>
                </a:solidFill>
              </a:rPr>
              <a:t>Membaca panel hasil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481328"/>
            <a:ext cx="1463040" cy="41148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3550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000" b="0" i="0">
                <a:solidFill>
                  <a:srgbClr val="8B949E"/>
                </a:solidFill>
              </a:rPr>
              <a:t>Domino Analyzer Pro · by Dody Maulana Ramadhan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3550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8B949E"/>
                </a:solidFill>
              </a:rPr>
              <a:t>23 / 31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74519"/>
            <a:ext cx="108813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650" b="0" i="0">
                <a:solidFill>
                  <a:srgbClr val="E6EDF3"/>
                </a:solidFill>
              </a:rPr>
              <a:t>· Peringkat kartu, ujung baru yang dihasilkan, dan lencana status</a:t>
            </a:r>
          </a:p>
          <a:p>
            <a:pPr>
              <a:spcAft>
                <a:spcPts val="1100"/>
              </a:spcAft>
            </a:pPr>
            <a:r>
              <a:rPr sz="1650" b="0" i="0">
                <a:solidFill>
                  <a:srgbClr val="E6EDF3"/>
                </a:solidFill>
              </a:rPr>
              <a:t>· Kotak statistik: Win, Jerat, Kunci, Lawan Pass, Sisa Mata, Risk</a:t>
            </a:r>
          </a:p>
          <a:p>
            <a:pPr>
              <a:spcAft>
                <a:spcPts val="1100"/>
              </a:spcAft>
            </a:pPr>
            <a:r>
              <a:rPr sz="1650" b="0" i="0">
                <a:solidFill>
                  <a:srgbClr val="E6EDF3"/>
                </a:solidFill>
              </a:rPr>
              <a:t>· Bar: peluang menang (+selang), menang lewat adu, kekuatan jerat</a:t>
            </a:r>
          </a:p>
          <a:p>
            <a:pPr>
              <a:spcAft>
                <a:spcPts val="1100"/>
              </a:spcAft>
            </a:pPr>
            <a:r>
              <a:rPr sz="1650" b="0" i="0">
                <a:solidFill>
                  <a:srgbClr val="E6EDF3"/>
                </a:solidFill>
              </a:rPr>
              <a:t>· Mode kartu pertama: bar keamanan putaran 2 dan daftar kartu yang bisa dimainkan</a:t>
            </a:r>
          </a:p>
          <a:p>
            <a:pPr>
              <a:spcAft>
                <a:spcPts val="1100"/>
              </a:spcAft>
            </a:pPr>
            <a:r>
              <a:rPr sz="1650" b="0" i="0">
                <a:solidFill>
                  <a:srgbClr val="E6EDF3"/>
                </a:solidFill>
              </a:rPr>
              <a:t>· Kotak strategi: alasan jerat, kunci, jebakan diri — dalam bahasa manusia</a:t>
            </a:r>
          </a:p>
          <a:p>
            <a:pPr>
              <a:spcAft>
                <a:spcPts val="1100"/>
              </a:spcAft>
            </a:pPr>
            <a:r>
              <a:rPr sz="1650" b="0" i="0">
                <a:solidFill>
                  <a:srgbClr val="E6EDF3"/>
                </a:solidFill>
              </a:rPr>
              <a:t>· Blok terjamin: lawan yang PASTI mati menurut data PASS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100" b="1" i="0">
                <a:solidFill>
                  <a:srgbClr val="58A6FF"/>
                </a:solidFill>
              </a:rPr>
              <a:t>PANDUAN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11247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3000" b="1" i="0">
                <a:solidFill>
                  <a:srgbClr val="E6EDF3"/>
                </a:solidFill>
              </a:rPr>
              <a:t>Kartu berbahaya &amp; profil lawan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481328"/>
            <a:ext cx="1463040" cy="41148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3550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000" b="0" i="0">
                <a:solidFill>
                  <a:srgbClr val="8B949E"/>
                </a:solidFill>
              </a:rPr>
              <a:t>Domino Analyzer Pro · by Dody Maulana Ramadhan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3550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8B949E"/>
                </a:solidFill>
              </a:rPr>
              <a:t>24 / 31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74519"/>
            <a:ext cx="108813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650" b="0" i="0">
                <a:solidFill>
                  <a:srgbClr val="E6EDF3"/>
                </a:solidFill>
              </a:rPr>
              <a:t>· Kartu berbahaya: lima kartu yang paling sering muncul di tangan lawan pada gim yang Anda kalahi</a:t>
            </a:r>
          </a:p>
          <a:p>
            <a:pPr>
              <a:spcAft>
                <a:spcPts val="1100"/>
              </a:spcAft>
            </a:pPr>
            <a:r>
              <a:rPr sz="1650" b="0" i="0">
                <a:solidFill>
                  <a:srgbClr val="E6EDF3"/>
                </a:solidFill>
              </a:rPr>
              <a:t>· Tafsirkan sebagai 'alat kekalahan', bukan 'kartu yang pasti dipegang lawan'</a:t>
            </a:r>
          </a:p>
          <a:p>
            <a:pPr>
              <a:spcAft>
                <a:spcPts val="1100"/>
              </a:spcAft>
            </a:pPr>
            <a:r>
              <a:rPr sz="1650" b="0" i="0">
                <a:solidFill>
                  <a:srgbClr val="E6EDF3"/>
                </a:solidFill>
              </a:rPr>
              <a:t>· Profil lawan: perkiraan angka yang ia kuasai, jumlah kartu, persentase keyakinan</a:t>
            </a:r>
          </a:p>
          <a:p>
            <a:pPr>
              <a:spcAft>
                <a:spcPts val="1100"/>
              </a:spcAft>
            </a:pPr>
            <a:r>
              <a:rPr sz="1650" b="0" i="0">
                <a:solidFill>
                  <a:srgbClr val="E6EDF3"/>
                </a:solidFill>
              </a:rPr>
              <a:t>· Perkiraan jumlah balak di tangan lawan</a:t>
            </a:r>
          </a:p>
          <a:p>
            <a:pPr>
              <a:spcAft>
                <a:spcPts val="1100"/>
              </a:spcAft>
            </a:pPr>
            <a:r>
              <a:rPr sz="1650" b="0" i="0">
                <a:solidFill>
                  <a:srgbClr val="E6EDF3"/>
                </a:solidFill>
              </a:rPr>
              <a:t>· Kolam kemungkinan menyempit seiring bertambahnya PASS yang Anda catat</a:t>
            </a:r>
          </a:p>
          <a:p>
            <a:pPr>
              <a:spcAft>
                <a:spcPts val="1100"/>
              </a:spcAft>
            </a:pPr>
            <a:r>
              <a:rPr sz="1650" b="0" i="0">
                <a:solidFill>
                  <a:srgbClr val="E6EDF3"/>
                </a:solidFill>
              </a:rPr>
              <a:t>· Balasan untuk pertanyaan 'apa yang paling mungkin dipegang lawan?'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100" b="1" i="0">
                <a:solidFill>
                  <a:srgbClr val="58A6FF"/>
                </a:solidFill>
              </a:rPr>
              <a:t>KUALITAS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11247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3000" b="1" i="0">
                <a:solidFill>
                  <a:srgbClr val="E6EDF3"/>
                </a:solidFill>
              </a:rPr>
              <a:t>Pengujian dan jaminan kualitas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481328"/>
            <a:ext cx="1463040" cy="41148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3550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000" b="0" i="0">
                <a:solidFill>
                  <a:srgbClr val="8B949E"/>
                </a:solidFill>
              </a:rPr>
              <a:t>Domino Analyzer Pro · by Dody Maulana Ramadhan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3550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8B949E"/>
                </a:solidFill>
              </a:rPr>
              <a:t>25 / 31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74519"/>
            <a:ext cx="108813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650" b="0" i="0">
                <a:solidFill>
                  <a:srgbClr val="E6EDF3"/>
                </a:solidFill>
              </a:rPr>
              <a:t>· 11 pemeriksaan mandiri mesin (deck, parser, determinisme, konservasi, cangkul, ranking, aturan adu, atribusi, interval)</a:t>
            </a:r>
          </a:p>
          <a:p>
            <a:pPr>
              <a:spcAft>
                <a:spcPts val="1100"/>
              </a:spcAft>
            </a:pPr>
            <a:r>
              <a:rPr sz="1650" b="0" i="0">
                <a:solidFill>
                  <a:srgbClr val="E6EDF3"/>
                </a:solidFill>
              </a:rPr>
              <a:t>· 29 uji server: normalisasi, validasi, endpoint, dan kontrak keamanan</a:t>
            </a:r>
          </a:p>
          <a:p>
            <a:pPr>
              <a:spcAft>
                <a:spcPts val="1100"/>
              </a:spcAft>
            </a:pPr>
            <a:r>
              <a:rPr sz="1650" b="0" i="0">
                <a:solidFill>
                  <a:srgbClr val="E6EDF3"/>
                </a:solidFill>
              </a:rPr>
              <a:t>· 6 uji antarmuka tanpa kepala: peringatan tier 1,7 juta, label tombol, Batal mematikan mesin</a:t>
            </a:r>
          </a:p>
          <a:p>
            <a:pPr>
              <a:spcAft>
                <a:spcPts val="1100"/>
              </a:spcAft>
            </a:pPr>
            <a:r>
              <a:rPr sz="1650" b="0" i="0">
                <a:solidFill>
                  <a:srgbClr val="E6EDF3"/>
                </a:solidFill>
              </a:rPr>
              <a:t>· Kontrak yang dijaga: ok:false selalu berpasangan dengan status bukan 200</a:t>
            </a:r>
          </a:p>
          <a:p>
            <a:pPr>
              <a:spcAft>
                <a:spcPts val="1100"/>
              </a:spcAft>
            </a:pPr>
            <a:r>
              <a:rPr sz="1650" b="0" i="0">
                <a:solidFill>
                  <a:srgbClr val="E6EDF3"/>
                </a:solidFill>
              </a:rPr>
              <a:t>· CI menjalankan empat pekerjaan: Linux g++, Windows MSVC, server tanpa mesin, dan peramban tanpa kepala</a:t>
            </a:r>
          </a:p>
          <a:p>
            <a:pPr>
              <a:spcAft>
                <a:spcPts val="1100"/>
              </a:spcAft>
            </a:pPr>
            <a:r>
              <a:rPr sz="1650" b="0" i="0">
                <a:solidFill>
                  <a:srgbClr val="E6EDF3"/>
                </a:solidFill>
              </a:rPr>
              <a:t>· Konservasi kartu diverifikasi pada setiap simulasi</a:t>
            </a:r>
          </a:p>
          <a:p>
            <a:pPr>
              <a:spcAft>
                <a:spcPts val="1100"/>
              </a:spcAft>
            </a:pPr>
            <a:r>
              <a:rPr sz="1650" b="0" i="0">
                <a:solidFill>
                  <a:srgbClr val="E6EDF3"/>
                </a:solidFill>
              </a:rPr>
              <a:t>· Determinisme bisa dibuktikan sendiri: jalankan dua kali, bandingkan keluaran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100" b="1" i="0">
                <a:solidFill>
                  <a:srgbClr val="58A6FF"/>
                </a:solidFill>
              </a:rPr>
              <a:t>KUALITAS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11247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3000" b="1" i="0">
                <a:solidFill>
                  <a:srgbClr val="E6EDF3"/>
                </a:solidFill>
              </a:rPr>
              <a:t>Keamanan dan ketahanan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481328"/>
            <a:ext cx="1463040" cy="41148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3550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000" b="0" i="0">
                <a:solidFill>
                  <a:srgbClr val="8B949E"/>
                </a:solidFill>
              </a:rPr>
              <a:t>Domino Analyzer Pro · by Dody Maulana Ramadhan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3550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8B949E"/>
                </a:solidFill>
              </a:rPr>
              <a:t>26 / 31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74519"/>
            <a:ext cx="108813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650" b="0" i="0">
                <a:solidFill>
                  <a:srgbClr val="E6EDF3"/>
                </a:solidFill>
              </a:rPr>
              <a:t>· Header keamanan: nosniff, no-referrer, CSP ketat</a:t>
            </a:r>
          </a:p>
          <a:p>
            <a:pPr>
              <a:spcAft>
                <a:spcPts val="1100"/>
              </a:spcAft>
            </a:pPr>
            <a:r>
              <a:rPr sz="1650" b="0" i="0">
                <a:solidFill>
                  <a:srgbClr val="E6EDF3"/>
                </a:solidFill>
              </a:rPr>
              <a:t>· Penyajian berkas dibatasi di dalam folder web/ (anti path traversal)</a:t>
            </a:r>
          </a:p>
          <a:p>
            <a:pPr>
              <a:spcAft>
                <a:spcPts val="1100"/>
              </a:spcAft>
            </a:pPr>
            <a:r>
              <a:rPr sz="1650" b="0" i="0">
                <a:solidFill>
                  <a:srgbClr val="E6EDF3"/>
                </a:solidFill>
              </a:rPr>
              <a:t>· Hanya application/json yang diterima; Origin lintas situs ditolak (CSRF)</a:t>
            </a:r>
          </a:p>
          <a:p>
            <a:pPr>
              <a:spcAft>
                <a:spcPts val="1100"/>
              </a:spcAft>
            </a:pPr>
            <a:r>
              <a:rPr sz="1650" b="0" i="0">
                <a:solidFill>
                  <a:srgbClr val="E6EDF3"/>
                </a:solidFill>
              </a:rPr>
              <a:t>· Batas ukuran isi 1 MiB; permintaan rusak dijawab 400 yang rapi</a:t>
            </a:r>
          </a:p>
          <a:p>
            <a:pPr>
              <a:spcAft>
                <a:spcPts val="1100"/>
              </a:spcAft>
            </a:pPr>
            <a:r>
              <a:rPr sz="1650" b="0" i="0">
                <a:solidFill>
                  <a:srgbClr val="E6EDF3"/>
                </a:solidFill>
              </a:rPr>
              <a:t>· Pesan galat tidak pernah memantulkan masukan pengguna (anti XSS)</a:t>
            </a:r>
          </a:p>
          <a:p>
            <a:pPr>
              <a:spcAft>
                <a:spcPts val="1100"/>
              </a:spcAft>
            </a:pPr>
            <a:r>
              <a:rPr sz="1650" b="0" i="0">
                <a:solidFill>
                  <a:srgbClr val="E6EDF3"/>
                </a:solidFill>
              </a:rPr>
              <a:t>· APP_TOKEN opsional dengan perbandingan waktu-konstan; batas numSims mencegah pembebanan CPU</a:t>
            </a:r>
          </a:p>
          <a:p>
            <a:pPr>
              <a:spcAft>
                <a:spcPts val="1100"/>
              </a:spcAft>
            </a:pPr>
            <a:r>
              <a:rPr sz="1650" b="0" i="0">
                <a:solidFill>
                  <a:srgbClr val="E6EDF3"/>
                </a:solidFill>
              </a:rPr>
              <a:t>· Data sesi impor divalidasi sebelum dipercaya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100" b="1" i="0">
                <a:solidFill>
                  <a:srgbClr val="58A6FF"/>
                </a:solidFill>
              </a:rPr>
              <a:t>STRATEGI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11247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3000" b="1" i="0">
                <a:solidFill>
                  <a:srgbClr val="E6EDF3"/>
                </a:solidFill>
              </a:rPr>
              <a:t>Empat prinsip strategi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481328"/>
            <a:ext cx="1463040" cy="41148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3550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000" b="0" i="0">
                <a:solidFill>
                  <a:srgbClr val="8B949E"/>
                </a:solidFill>
              </a:rPr>
              <a:t>Domino Analyzer Pro · by Dody Maulana Ramadhan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3550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8B949E"/>
                </a:solidFill>
              </a:rPr>
              <a:t>27 / 31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74519"/>
            <a:ext cx="108813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650" b="0" i="0">
                <a:solidFill>
                  <a:srgbClr val="E6EDF3"/>
                </a:solidFill>
              </a:rPr>
              <a:t>· 1. Kuasai satu ANGKA, bukan tujuh kartu — hitung angka, bukan nilai mata</a:t>
            </a:r>
          </a:p>
          <a:p>
            <a:pPr>
              <a:spcAft>
                <a:spcPts val="1100"/>
              </a:spcAft>
            </a:pPr>
            <a:r>
              <a:rPr sz="1650" b="0" i="0">
                <a:solidFill>
                  <a:srgbClr val="E6EDF3"/>
                </a:solidFill>
              </a:rPr>
              <a:t>· 2. Ujung meja adalah alat: setiap langkah memilih soal untuk lawan</a:t>
            </a:r>
          </a:p>
          <a:p>
            <a:pPr>
              <a:spcAft>
                <a:spcPts val="1100"/>
              </a:spcAft>
            </a:pPr>
            <a:r>
              <a:rPr sz="1650" b="0" i="0">
                <a:solidFill>
                  <a:srgbClr val="E6EDF3"/>
                </a:solidFill>
              </a:rPr>
              <a:t>· 3. Informasi adalah mata uang: satu PASS bernilai lebih dari satu kartu bagus</a:t>
            </a:r>
          </a:p>
          <a:p>
            <a:pPr>
              <a:spcAft>
                <a:spcPts val="1100"/>
              </a:spcAft>
            </a:pPr>
            <a:r>
              <a:rPr sz="1650" b="0" i="0">
                <a:solidFill>
                  <a:srgbClr val="E6EDF3"/>
                </a:solidFill>
              </a:rPr>
              <a:t>· 4. Jangan mengadu kecuali tangan Anda ringan</a:t>
            </a:r>
          </a:p>
          <a:p>
            <a:pPr>
              <a:spcAft>
                <a:spcPts val="1100"/>
              </a:spcAft>
            </a:pPr>
            <a:r>
              <a:rPr sz="1650" b="0" i="0">
                <a:solidFill>
                  <a:srgbClr val="E6EDF3"/>
                </a:solidFill>
              </a:rPr>
              <a:t>· Jerat: menyisakan angka dominan agar lawan terpaksa membuka jalan Anda</a:t>
            </a:r>
          </a:p>
          <a:p>
            <a:pPr>
              <a:spcAft>
                <a:spcPts val="1100"/>
              </a:spcAft>
            </a:pPr>
            <a:r>
              <a:rPr sz="1650" b="0" i="0">
                <a:solidFill>
                  <a:srgbClr val="E6EDF3"/>
                </a:solidFill>
              </a:rPr>
              <a:t>· Kunci: meninggalkan ujung yang hanya Anda miliki aksesnya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100" b="1" i="0">
                <a:solidFill>
                  <a:srgbClr val="58A6FF"/>
                </a:solidFill>
              </a:rPr>
              <a:t>STRATEGI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11247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3000" b="1" i="0">
                <a:solidFill>
                  <a:srgbClr val="E6EDF3"/>
                </a:solidFill>
              </a:rPr>
              <a:t>Rutinitas satu langkah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481328"/>
            <a:ext cx="1463040" cy="41148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3550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000" b="0" i="0">
                <a:solidFill>
                  <a:srgbClr val="8B949E"/>
                </a:solidFill>
              </a:rPr>
              <a:t>Domino Analyzer Pro · by Dody Maulana Ramadhan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3550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8B949E"/>
                </a:solidFill>
              </a:rPr>
              <a:t>28 / 31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108813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600" b="0" i="0">
                <a:solidFill>
                  <a:srgbClr val="E6EDF3"/>
                </a:solidFill>
              </a:rPr>
              <a:t>1. Perbarui data dulu (kartu lawan, PASS)</a:t>
            </a:r>
          </a:p>
          <a:p>
            <a:pPr>
              <a:spcAft>
                <a:spcPts val="700"/>
              </a:spcAft>
            </a:pPr>
            <a:r>
              <a:rPr sz="1600" b="0" i="0">
                <a:solidFill>
                  <a:srgbClr val="E6EDF3"/>
                </a:solidFill>
              </a:rPr>
              <a:t>2. Baca peringkat #1 + selang + alasan</a:t>
            </a:r>
          </a:p>
          <a:p>
            <a:pPr>
              <a:spcAft>
                <a:spcPts val="700"/>
              </a:spcAft>
            </a:pPr>
            <a:r>
              <a:rPr sz="1600" b="0" i="0">
                <a:solidFill>
                  <a:srgbClr val="E6EDF3"/>
                </a:solidFill>
              </a:rPr>
              <a:t>3. Periksa keamanan putaran 2</a:t>
            </a:r>
          </a:p>
          <a:p>
            <a:pPr>
              <a:spcAft>
                <a:spcPts val="700"/>
              </a:spcAft>
            </a:pPr>
            <a:r>
              <a:rPr sz="1600" b="0" i="0">
                <a:solidFill>
                  <a:srgbClr val="E6EDF3"/>
                </a:solidFill>
              </a:rPr>
              <a:t>4. Cocokkan dengan pengamatan meja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474720"/>
            <a:ext cx="108813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50" b="0" i="0">
                <a:solidFill>
                  <a:srgbClr val="8B949E"/>
                </a:solidFill>
              </a:rPr>
              <a:t>· Data lama menghasilkan analisis yang salah — urutan ini penting</a:t>
            </a:r>
          </a:p>
          <a:p>
            <a:pPr>
              <a:spcAft>
                <a:spcPts val="600"/>
              </a:spcAft>
            </a:pPr>
            <a:r>
              <a:rPr sz="1450" b="0" i="0">
                <a:solidFill>
                  <a:srgbClr val="8B949E"/>
                </a:solidFill>
              </a:rPr>
              <a:t>· Bila rekomendasi bertentangan dengan pengamatan, biasanya data yang kurang lengkap</a:t>
            </a:r>
          </a:p>
          <a:p>
            <a:pPr>
              <a:spcAft>
                <a:spcPts val="600"/>
              </a:spcAft>
            </a:pPr>
            <a:r>
              <a:rPr sz="1450" b="0" i="0">
                <a:solidFill>
                  <a:srgbClr val="8B949E"/>
                </a:solidFill>
              </a:rPr>
              <a:t>· Angka tidak menggantikan kepekaan; ia menutup celah yang sulit ditutup manusia: menghitung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100" b="1" i="0">
                <a:solidFill>
                  <a:srgbClr val="58A6FF"/>
                </a:solidFill>
              </a:rPr>
              <a:t>BATASAN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11247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3000" b="1" i="0">
                <a:solidFill>
                  <a:srgbClr val="E6EDF3"/>
                </a:solidFill>
              </a:rPr>
              <a:t>Yang belum ada / batasan jujur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481328"/>
            <a:ext cx="1463040" cy="41148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3550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000" b="0" i="0">
                <a:solidFill>
                  <a:srgbClr val="8B949E"/>
                </a:solidFill>
              </a:rPr>
              <a:t>Domino Analyzer Pro · by Dody Maulana Ramadhan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3550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8B949E"/>
                </a:solidFill>
              </a:rPr>
              <a:t>29 / 31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74519"/>
            <a:ext cx="108813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650" b="0" i="0">
                <a:solidFill>
                  <a:srgbClr val="E6EDF3"/>
                </a:solidFill>
              </a:rPr>
              <a:t>· Lawan di simulasi heuristik, bukan manusia sungguhan</a:t>
            </a:r>
          </a:p>
          <a:p>
            <a:pPr>
              <a:spcAft>
                <a:spcPts val="1100"/>
              </a:spcAft>
            </a:pPr>
            <a:r>
              <a:rPr sz="1650" b="0" i="0">
                <a:solidFill>
                  <a:srgbClr val="E6EDF3"/>
                </a:solidFill>
              </a:rPr>
              <a:t>· Pembagian kartu mengasumsikan keacakan</a:t>
            </a:r>
          </a:p>
          <a:p>
            <a:pPr>
              <a:spcAft>
                <a:spcPts val="1100"/>
              </a:spcAft>
            </a:pPr>
            <a:r>
              <a:rPr sz="1650" b="0" i="0">
                <a:solidFill>
                  <a:srgbClr val="E6EDF3"/>
                </a:solidFill>
              </a:rPr>
              <a:t>· Konvensi meja harus benar, kalau tidak seluruh angka menyimpang</a:t>
            </a:r>
          </a:p>
          <a:p>
            <a:pPr>
              <a:spcAft>
                <a:spcPts val="1100"/>
              </a:spcAft>
            </a:pPr>
            <a:r>
              <a:rPr sz="1650" b="0" i="0">
                <a:solidFill>
                  <a:srgbClr val="E6EDF3"/>
                </a:solidFill>
              </a:rPr>
              <a:t>· Belum ada uji otomatis untuk tata letak antarmuka dan interaksi</a:t>
            </a:r>
          </a:p>
          <a:p>
            <a:pPr>
              <a:spcAft>
                <a:spcPts val="1100"/>
              </a:spcAft>
            </a:pPr>
            <a:r>
              <a:rPr sz="1650" b="0" i="0">
                <a:solidFill>
                  <a:srgbClr val="E6EDF3"/>
                </a:solidFill>
              </a:rPr>
              <a:t>· Belum ada tolok ukur kinerja di CI</a:t>
            </a:r>
          </a:p>
          <a:p>
            <a:pPr>
              <a:spcAft>
                <a:spcPts val="1100"/>
              </a:spcAft>
            </a:pPr>
            <a:r>
              <a:rPr sz="1650" b="0" i="0">
                <a:solidFill>
                  <a:srgbClr val="E6EDF3"/>
                </a:solidFill>
              </a:rPr>
              <a:t>· Proyek belum menyertakan berkas lisensi</a:t>
            </a:r>
          </a:p>
          <a:p>
            <a:pPr>
              <a:spcAft>
                <a:spcPts val="1100"/>
              </a:spcAft>
            </a:pPr>
            <a:r>
              <a:rPr sz="1650" b="0" i="0">
                <a:solidFill>
                  <a:srgbClr val="E6EDF3"/>
                </a:solidFill>
              </a:rPr>
              <a:t>· Tidak mengintip kartu lawan: kualitas hasil sepenuhnya bergantung pada data yang Anda masukkan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100" b="1" i="0">
                <a:solidFill>
                  <a:srgbClr val="58A6FF"/>
                </a:solidFill>
              </a:rPr>
              <a:t>HASIL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11247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3000" b="1" i="0">
                <a:solidFill>
                  <a:srgbClr val="E6EDF3"/>
                </a:solidFill>
              </a:rPr>
              <a:t>Dokumentasi lengkap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481328"/>
            <a:ext cx="1463040" cy="41148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3550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000" b="0" i="0">
                <a:solidFill>
                  <a:srgbClr val="8B949E"/>
                </a:solidFill>
              </a:rPr>
              <a:t>Domino Analyzer Pro · by Dody Maulana Ramadhan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3550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8B949E"/>
                </a:solidFill>
              </a:rPr>
              <a:t>30 / 31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74519"/>
            <a:ext cx="108813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650" b="0" i="0">
                <a:solidFill>
                  <a:srgbClr val="E6EDF3"/>
                </a:solidFill>
              </a:rPr>
              <a:t>· Buku: docs/Domino-Analyzer-Pro-Dokumentasi.pdf (75 halaman, 9 diagram vektor)</a:t>
            </a:r>
          </a:p>
          <a:p>
            <a:pPr>
              <a:spcAft>
                <a:spcPts val="1100"/>
              </a:spcAft>
            </a:pPr>
            <a:r>
              <a:rPr sz="1650" b="0" i="0">
                <a:solidFill>
                  <a:srgbClr val="E6EDF3"/>
                </a:solidFill>
              </a:rPr>
              <a:t>· Markdown: docs/Domino-Analyzer-Pro-Dokumentasi.md (sumber 10 bagian di docs/src/)</a:t>
            </a:r>
          </a:p>
          <a:p>
            <a:pPr>
              <a:spcAft>
                <a:spcPts val="1100"/>
              </a:spcAft>
            </a:pPr>
            <a:r>
              <a:rPr sz="1650" b="0" i="0">
                <a:solidFill>
                  <a:srgbClr val="E6EDF3"/>
                </a:solidFill>
              </a:rPr>
              <a:t>· DOCX: versi yang bisa diedit</a:t>
            </a:r>
          </a:p>
          <a:p>
            <a:pPr>
              <a:spcAft>
                <a:spcPts val="1100"/>
              </a:spcAft>
            </a:pPr>
            <a:r>
              <a:rPr sz="1650" b="0" i="0">
                <a:solidFill>
                  <a:srgbClr val="E6EDF3"/>
                </a:solidFill>
              </a:rPr>
              <a:t>· Presentasi: docs/Domino-Analyzer-Pro-Presentasi.pptx (slide ini)</a:t>
            </a:r>
          </a:p>
          <a:p>
            <a:pPr>
              <a:spcAft>
                <a:spcPts val="1100"/>
              </a:spcAft>
            </a:pPr>
            <a:r>
              <a:rPr sz="1650" b="0" i="0">
                <a:solidFill>
                  <a:srgbClr val="E6EDF3"/>
                </a:solidFill>
              </a:rPr>
              <a:t>· Dibangun ulang dengan: python tools/build_docs.py dan python tools/build_deck.py</a:t>
            </a:r>
          </a:p>
          <a:p>
            <a:pPr>
              <a:spcAft>
                <a:spcPts val="1100"/>
              </a:spcAft>
            </a:pPr>
            <a:r>
              <a:rPr sz="1650" b="0" i="0">
                <a:solidFill>
                  <a:srgbClr val="E6EDF3"/>
                </a:solidFill>
              </a:rPr>
              <a:t>· Setiap angka contoh di buku berasal dari eksekusi mesin yang sesungguhnya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4630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4400" b="1" i="0">
                <a:solidFill>
                  <a:srgbClr val="E6EDF3"/>
                </a:solidFill>
              </a:rPr>
              <a:t>Terima kasih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4688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400" b="1" i="0">
                <a:solidFill>
                  <a:srgbClr val="58A6FF"/>
                </a:solidFill>
              </a:rPr>
              <a:t>by Dody Maulana Ramadhan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38328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 i="0">
                <a:solidFill>
                  <a:srgbClr val="E6EDF3"/>
                </a:solidFill>
              </a:rPr>
              <a:t>· Domino Analyzer Pro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8B949E"/>
                </a:solidFill>
              </a:rPr>
              <a:t>· Versi aplikasi v3.3 · engine 3.0.0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8B949E"/>
                </a:solidFill>
              </a:rPr>
              <a:t>· Panduan pemakaian, penjelasan mesin, rujukan API, dan strategi bermain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8B949E"/>
                </a:solidFill>
              </a:rPr>
              <a:t>· Analisis langkah domino 28 kartu dengan simulasi Monte-Carlo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